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導入。比較の軸は3つ（サンドボックス／シェル／デスクトップ操作）。右のカードが本資料の結論そのもの。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3点に集約。1が最も重い。3はmacOS/Windowsの差が最も大きい項目。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用語を揃えるスライド。以降はCLIとデスクトップに絞る。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導入経路はほぼ対等。差が出るのは自動更新と署名まわりの運用。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本資料の中心。ここだけ覚えて帰ってもらえればよい。Windows ネイティブの1行が全て。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3OSそれぞれ別実装。リポジトリのファイル構成で裏取り可能。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管理者権限が取れるかどうかで隔離強度が変わる。ネットワーク隔離の差が最も大きい。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3列のうち右端だけが例外。ここが本資料のハイライト。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macOSは効きすぎる方向の問題。設定をOS別に分ける必要がある。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日本語環境では文字コードの項目が実務上いちばん刺さる。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hooksのmatcherは Bash|PowerShell 両方にすること。実務で最も事故りやすい点。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GUIの有無では差がつかない。次スライドが本題。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macOS/Windows差が最も大きいスライド。GUI自動化の要件があるなら選定を決める。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Codeでは WSL2 が必須級。ただし WSL セッションには機能制限がある点に注意。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細かいが日々効く差。Windows Terminal はむしろ優秀。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最後は要件から逆引き。Windowsネイティブ＋強い隔離ならCodex一択。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出典と限界を明示。Codex側は公式ドキュメント未確認の項目があるため、導入前の裏取りを推奨。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0"/>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8858F"/>
                </a:solidFill>
                <a:latin typeface="Courier New" pitchFamily="34" charset="0"/>
                <a:ea typeface="Courier New" pitchFamily="34" charset="-122"/>
                <a:cs typeface="Courier New" pitchFamily="34" charset="-120"/>
              </a:rPr>
              <a:t>DEVELOPER TOOLING BRIEF  ·  2026.08.18</a:t>
            </a:r>
            <a:endParaRPr lang="en-US" sz="1000" dirty="0"/>
          </a:p>
        </p:txBody>
      </p:sp>
      <p:sp>
        <p:nvSpPr>
          <p:cNvPr id="3" name="Shape 1"/>
          <p:cNvSpPr/>
          <p:nvPr/>
        </p:nvSpPr>
        <p:spPr>
          <a:xfrm>
            <a:off x="566928" y="6327648"/>
            <a:ext cx="11057839" cy="0"/>
          </a:xfrm>
          <a:prstGeom prst="line">
            <a:avLst/>
          </a:prstGeom>
          <a:noFill/>
          <a:ln w="9525">
            <a:solidFill>
              <a:srgbClr val="2B353E"/>
            </a:solidFill>
            <a:prstDash val="solid"/>
          </a:ln>
        </p:spPr>
      </p:sp>
      <p:sp>
        <p:nvSpPr>
          <p:cNvPr id="4" name="Text 2"/>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8858F"/>
                </a:solidFill>
                <a:latin typeface="Courier New" pitchFamily="34" charset="0"/>
                <a:ea typeface="Courier New" pitchFamily="34" charset="-122"/>
                <a:cs typeface="Courier New" pitchFamily="34" charset="-120"/>
              </a:rPr>
              <a:t>CODEX x CLAUDE CODE / OS CAPABILITY MATRIX</a:t>
            </a:r>
            <a:endParaRPr lang="en-US" sz="900" dirty="0"/>
          </a:p>
        </p:txBody>
      </p:sp>
      <p:sp>
        <p:nvSpPr>
          <p:cNvPr id="5" name="Text 3"/>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A5B1BB"/>
                </a:solidFill>
                <a:latin typeface="Courier New" pitchFamily="34" charset="0"/>
                <a:ea typeface="Courier New" pitchFamily="34" charset="-122"/>
                <a:cs typeface="Courier New" pitchFamily="34" charset="-120"/>
              </a:rPr>
              <a:t>01 / 17</a:t>
            </a:r>
            <a:endParaRPr lang="en-US" sz="900" dirty="0"/>
          </a:p>
        </p:txBody>
      </p:sp>
      <p:sp>
        <p:nvSpPr>
          <p:cNvPr id="6" name="Text 4"/>
          <p:cNvSpPr txBox="1"/>
          <p:nvPr/>
        </p:nvSpPr>
        <p:spPr>
          <a:xfrm>
            <a:off x="566928" y="1371600"/>
            <a:ext cx="6675120" cy="2011680"/>
          </a:xfrm>
          <a:prstGeom prst="rect">
            <a:avLst/>
          </a:prstGeom>
          <a:noFill/>
          <a:ln/>
        </p:spPr>
        <p:txBody>
          <a:bodyPr wrap="square" lIns="0" tIns="0" rIns="0" bIns="0" rtlCol="0" anchor="ctr"/>
          <a:lstStyle/>
          <a:p>
            <a:pPr indent="0" marL="0">
              <a:lnSpc>
                <a:spcPct val="128000"/>
              </a:lnSpc>
              <a:buNone/>
            </a:pPr>
            <a:r>
              <a:rPr lang="en-US" sz="3000" b="1" dirty="0">
                <a:solidFill>
                  <a:srgbClr val="E7EDF2"/>
                </a:solidFill>
                <a:latin typeface="Yu Gothic" pitchFamily="34" charset="0"/>
                <a:ea typeface="Yu Gothic" pitchFamily="34" charset="-122"/>
                <a:cs typeface="Yu Gothic" pitchFamily="34" charset="-120"/>
              </a:rPr>
              <a:t>Codex と Claude Code、</a:t>
            </a:r>
            <a:endParaRPr lang="en-US" sz="3000" dirty="0"/>
          </a:p>
          <a:p>
            <a:pPr indent="0" marL="0">
              <a:lnSpc>
                <a:spcPct val="128000"/>
              </a:lnSpc>
              <a:buNone/>
            </a:pPr>
            <a:r>
              <a:rPr lang="en-US" sz="3000" b="1" dirty="0">
                <a:solidFill>
                  <a:srgbClr val="E7EDF2"/>
                </a:solidFill>
                <a:latin typeface="Yu Gothic" pitchFamily="34" charset="0"/>
                <a:ea typeface="Yu Gothic" pitchFamily="34" charset="-122"/>
                <a:cs typeface="Yu Gothic" pitchFamily="34" charset="-120"/>
              </a:rPr>
              <a:t>Windows と macOS で</a:t>
            </a:r>
            <a:endParaRPr lang="en-US" sz="3000" dirty="0"/>
          </a:p>
          <a:p>
            <a:pPr indent="0" marL="0">
              <a:lnSpc>
                <a:spcPct val="128000"/>
              </a:lnSpc>
              <a:buNone/>
            </a:pPr>
            <a:r>
              <a:rPr lang="en-US" sz="3000" b="1" dirty="0">
                <a:solidFill>
                  <a:srgbClr val="E7EDF2"/>
                </a:solidFill>
                <a:latin typeface="Yu Gothic" pitchFamily="34" charset="0"/>
                <a:ea typeface="Yu Gothic" pitchFamily="34" charset="-122"/>
                <a:cs typeface="Yu Gothic" pitchFamily="34" charset="-120"/>
              </a:rPr>
              <a:t>何が違うのか</a:t>
            </a:r>
            <a:endParaRPr lang="en-US" sz="3000" dirty="0"/>
          </a:p>
        </p:txBody>
      </p:sp>
      <p:sp>
        <p:nvSpPr>
          <p:cNvPr id="7" name="Text 5"/>
          <p:cNvSpPr txBox="1"/>
          <p:nvPr/>
        </p:nvSpPr>
        <p:spPr>
          <a:xfrm>
            <a:off x="566928" y="3584448"/>
            <a:ext cx="6400800" cy="1005840"/>
          </a:xfrm>
          <a:prstGeom prst="rect">
            <a:avLst/>
          </a:prstGeom>
          <a:noFill/>
          <a:ln/>
        </p:spPr>
        <p:txBody>
          <a:bodyPr wrap="square" lIns="0" tIns="0" rIns="0" bIns="0" rtlCol="0" anchor="t"/>
          <a:lstStyle/>
          <a:p>
            <a:pPr indent="0" marL="0">
              <a:lnSpc>
                <a:spcPct val="145000"/>
              </a:lnSpc>
              <a:buNone/>
            </a:pPr>
            <a:r>
              <a:rPr lang="en-US" sz="1200" dirty="0">
                <a:solidFill>
                  <a:srgbClr val="A5B1BB"/>
                </a:solidFill>
                <a:latin typeface="Yu Gothic" pitchFamily="34" charset="0"/>
                <a:ea typeface="Yu Gothic" pitchFamily="34" charset="-122"/>
                <a:cs typeface="Yu Gothic" pitchFamily="34" charset="-120"/>
              </a:rPr>
              <a:t>同じ「ターミナル型コーディングエージェント」でも、OS の境界機構が違えば、できることが変わります。サンドボックス・シェル実行・デスクトップ操作の 3 点を軸に、両製品の Windows 版と macOS 版を実装レベルで対比します。</a:t>
            </a:r>
            <a:endParaRPr lang="en-US" sz="1200" dirty="0"/>
          </a:p>
        </p:txBody>
      </p:sp>
      <p:sp>
        <p:nvSpPr>
          <p:cNvPr id="8" name="Text 6"/>
          <p:cNvSpPr txBox="1"/>
          <p:nvPr/>
        </p:nvSpPr>
        <p:spPr>
          <a:xfrm>
            <a:off x="566928" y="4736592"/>
            <a:ext cx="6400800" cy="365760"/>
          </a:xfrm>
          <a:prstGeom prst="rect">
            <a:avLst/>
          </a:prstGeom>
          <a:noFill/>
          <a:ln/>
        </p:spPr>
        <p:txBody>
          <a:bodyPr wrap="square" lIns="0" tIns="0" rIns="0" bIns="0" rtlCol="0" anchor="ctr"/>
          <a:lstStyle/>
          <a:p>
            <a:pPr indent="0" marL="0">
              <a:buNone/>
            </a:pPr>
            <a:r>
              <a:rPr lang="en-US" sz="1500" b="1" dirty="0">
                <a:solidFill>
                  <a:srgbClr val="5CB7D6"/>
                </a:solidFill>
                <a:latin typeface="Courier New" pitchFamily="34" charset="0"/>
                <a:ea typeface="Courier New" pitchFamily="34" charset="-122"/>
                <a:cs typeface="Courier New" pitchFamily="34" charset="-120"/>
              </a:rPr>
              <a:t>Codex</a:t>
            </a:r>
            <a:pPr indent="0" marL="0">
              <a:buNone/>
            </a:pPr>
            <a:r>
              <a:rPr lang="en-US" sz="1000" dirty="0">
                <a:solidFill>
                  <a:srgbClr val="78858F"/>
                </a:solidFill>
                <a:latin typeface="Courier New" pitchFamily="34" charset="0"/>
                <a:ea typeface="Courier New" pitchFamily="34" charset="-122"/>
                <a:cs typeface="Courier New" pitchFamily="34" charset="-120"/>
              </a:rPr>
              <a:t>   against   </a:t>
            </a:r>
            <a:pPr indent="0" marL="0">
              <a:buNone/>
            </a:pPr>
            <a:r>
              <a:rPr lang="en-US" sz="1500" b="1" dirty="0">
                <a:solidFill>
                  <a:srgbClr val="D6AC55"/>
                </a:solidFill>
                <a:latin typeface="Courier New" pitchFamily="34" charset="0"/>
                <a:ea typeface="Courier New" pitchFamily="34" charset="-122"/>
                <a:cs typeface="Courier New" pitchFamily="34" charset="-120"/>
              </a:rPr>
              <a:t>Claude Code</a:t>
            </a:r>
            <a:endParaRPr lang="en-US" sz="1500" dirty="0"/>
          </a:p>
        </p:txBody>
      </p:sp>
      <p:sp>
        <p:nvSpPr>
          <p:cNvPr id="9" name="Shape 7"/>
          <p:cNvSpPr/>
          <p:nvPr/>
        </p:nvSpPr>
        <p:spPr>
          <a:xfrm>
            <a:off x="7635240" y="1481328"/>
            <a:ext cx="3977640" cy="3429000"/>
          </a:xfrm>
          <a:prstGeom prst="rect">
            <a:avLst/>
          </a:prstGeom>
          <a:solidFill>
            <a:srgbClr val="1B232A"/>
          </a:solidFill>
          <a:ln w="12700">
            <a:solidFill>
              <a:srgbClr val="2B353E"/>
            </a:solidFill>
            <a:prstDash val="solid"/>
          </a:ln>
        </p:spPr>
      </p:sp>
      <p:sp>
        <p:nvSpPr>
          <p:cNvPr id="10" name="Text 8"/>
          <p:cNvSpPr txBox="1"/>
          <p:nvPr/>
        </p:nvSpPr>
        <p:spPr>
          <a:xfrm>
            <a:off x="7891272" y="1700784"/>
            <a:ext cx="3465576" cy="274320"/>
          </a:xfrm>
          <a:prstGeom prst="rect">
            <a:avLst/>
          </a:prstGeom>
          <a:noFill/>
          <a:ln/>
        </p:spPr>
        <p:txBody>
          <a:bodyPr wrap="square" lIns="0" tIns="0" rIns="0" bIns="0" rtlCol="0" anchor="ctr"/>
          <a:lstStyle/>
          <a:p>
            <a:pPr indent="0" marL="0">
              <a:buNone/>
            </a:pPr>
            <a:r>
              <a:rPr lang="en-US" sz="1000" b="1" dirty="0">
                <a:solidFill>
                  <a:srgbClr val="78858F"/>
                </a:solidFill>
                <a:latin typeface="Yu Gothic" pitchFamily="34" charset="0"/>
                <a:ea typeface="Yu Gothic" pitchFamily="34" charset="-122"/>
                <a:cs typeface="Yu Gothic" pitchFamily="34" charset="-120"/>
              </a:rPr>
              <a:t>結論を先に — サンドボックスは効くか</a:t>
            </a:r>
            <a:endParaRPr lang="en-US" sz="1000" dirty="0"/>
          </a:p>
        </p:txBody>
      </p:sp>
      <p:sp>
        <p:nvSpPr>
          <p:cNvPr id="11" name="Shape 9"/>
          <p:cNvSpPr/>
          <p:nvPr/>
        </p:nvSpPr>
        <p:spPr>
          <a:xfrm>
            <a:off x="7891272" y="2048256"/>
            <a:ext cx="3465576" cy="0"/>
          </a:xfrm>
          <a:prstGeom prst="line">
            <a:avLst/>
          </a:prstGeom>
          <a:noFill/>
          <a:ln w="9525">
            <a:solidFill>
              <a:srgbClr val="2B353E"/>
            </a:solidFill>
            <a:prstDash val="solid"/>
          </a:ln>
        </p:spPr>
      </p:sp>
      <p:sp>
        <p:nvSpPr>
          <p:cNvPr id="12" name="Text 10"/>
          <p:cNvSpPr txBox="1"/>
          <p:nvPr/>
        </p:nvSpPr>
        <p:spPr>
          <a:xfrm>
            <a:off x="9784080" y="2157984"/>
            <a:ext cx="822960" cy="237744"/>
          </a:xfrm>
          <a:prstGeom prst="rect">
            <a:avLst/>
          </a:prstGeom>
          <a:noFill/>
          <a:ln/>
        </p:spPr>
        <p:txBody>
          <a:bodyPr wrap="square" lIns="0" tIns="0" rIns="0" bIns="0" rtlCol="0" anchor="ctr"/>
          <a:lstStyle/>
          <a:p>
            <a:pPr algn="ctr" indent="0" marL="0">
              <a:buNone/>
            </a:pPr>
            <a:r>
              <a:rPr lang="en-US" sz="900" b="1" dirty="0">
                <a:solidFill>
                  <a:srgbClr val="5CB7D6"/>
                </a:solidFill>
                <a:latin typeface="Courier New" pitchFamily="34" charset="0"/>
                <a:ea typeface="Courier New" pitchFamily="34" charset="-122"/>
                <a:cs typeface="Courier New" pitchFamily="34" charset="-120"/>
              </a:rPr>
              <a:t>Codex</a:t>
            </a:r>
            <a:endParaRPr lang="en-US" sz="900" dirty="0"/>
          </a:p>
        </p:txBody>
      </p:sp>
      <p:sp>
        <p:nvSpPr>
          <p:cNvPr id="13" name="Text 11"/>
          <p:cNvSpPr txBox="1"/>
          <p:nvPr/>
        </p:nvSpPr>
        <p:spPr>
          <a:xfrm>
            <a:off x="10671048" y="2157984"/>
            <a:ext cx="822960" cy="237744"/>
          </a:xfrm>
          <a:prstGeom prst="rect">
            <a:avLst/>
          </a:prstGeom>
          <a:noFill/>
          <a:ln/>
        </p:spPr>
        <p:txBody>
          <a:bodyPr wrap="square" lIns="0" tIns="0" rIns="0" bIns="0" rtlCol="0" anchor="ctr"/>
          <a:lstStyle/>
          <a:p>
            <a:pPr algn="ctr" indent="0" marL="0">
              <a:buNone/>
            </a:pPr>
            <a:r>
              <a:rPr lang="en-US" sz="900" b="1" dirty="0">
                <a:solidFill>
                  <a:srgbClr val="D6AC55"/>
                </a:solidFill>
                <a:latin typeface="Courier New" pitchFamily="34" charset="0"/>
                <a:ea typeface="Courier New" pitchFamily="34" charset="-122"/>
                <a:cs typeface="Courier New" pitchFamily="34" charset="-120"/>
              </a:rPr>
              <a:t>Claude</a:t>
            </a:r>
            <a:endParaRPr lang="en-US" sz="900" dirty="0"/>
          </a:p>
        </p:txBody>
      </p:sp>
      <p:sp>
        <p:nvSpPr>
          <p:cNvPr id="14" name="Shape 12"/>
          <p:cNvSpPr/>
          <p:nvPr/>
        </p:nvSpPr>
        <p:spPr>
          <a:xfrm>
            <a:off x="7891272" y="2432304"/>
            <a:ext cx="3465576" cy="0"/>
          </a:xfrm>
          <a:prstGeom prst="line">
            <a:avLst/>
          </a:prstGeom>
          <a:noFill/>
          <a:ln w="6350">
            <a:solidFill>
              <a:srgbClr val="2B353E"/>
            </a:solidFill>
            <a:prstDash val="solid"/>
          </a:ln>
        </p:spPr>
      </p:sp>
      <p:sp>
        <p:nvSpPr>
          <p:cNvPr id="15" name="Text 13"/>
          <p:cNvSpPr txBox="1"/>
          <p:nvPr/>
        </p:nvSpPr>
        <p:spPr>
          <a:xfrm>
            <a:off x="7891272" y="2487168"/>
            <a:ext cx="1828800" cy="347472"/>
          </a:xfrm>
          <a:prstGeom prst="rect">
            <a:avLst/>
          </a:prstGeom>
          <a:noFill/>
          <a:ln/>
        </p:spPr>
        <p:txBody>
          <a:bodyPr wrap="square" lIns="0" tIns="0" rIns="0" bIns="0" rtlCol="0" anchor="ctr"/>
          <a:lstStyle/>
          <a:p>
            <a:pPr indent="0" marL="0">
              <a:buNone/>
            </a:pPr>
            <a:r>
              <a:rPr lang="en-US" sz="1050" dirty="0">
                <a:solidFill>
                  <a:srgbClr val="E7EDF2"/>
                </a:solidFill>
                <a:latin typeface="Yu Gothic" pitchFamily="34" charset="0"/>
                <a:ea typeface="Yu Gothic" pitchFamily="34" charset="-122"/>
                <a:cs typeface="Yu Gothic" pitchFamily="34" charset="-120"/>
              </a:rPr>
              <a:t>macOS</a:t>
            </a:r>
            <a:endParaRPr lang="en-US" sz="1050" dirty="0"/>
          </a:p>
        </p:txBody>
      </p:sp>
      <p:sp>
        <p:nvSpPr>
          <p:cNvPr id="16" name="Text 14"/>
          <p:cNvSpPr txBox="1"/>
          <p:nvPr/>
        </p:nvSpPr>
        <p:spPr>
          <a:xfrm>
            <a:off x="9784080" y="2487168"/>
            <a:ext cx="822960" cy="347472"/>
          </a:xfrm>
          <a:prstGeom prst="rect">
            <a:avLst/>
          </a:prstGeom>
          <a:noFill/>
          <a:ln/>
        </p:spPr>
        <p:txBody>
          <a:bodyPr wrap="square" lIns="0" tIns="0" rIns="0" bIns="0" rtlCol="0" anchor="ctr"/>
          <a:lstStyle/>
          <a:p>
            <a:pPr algn="ctr" indent="0" marL="0">
              <a:buNone/>
            </a:pPr>
            <a:r>
              <a:rPr lang="en-US" sz="1200" b="1" dirty="0">
                <a:solidFill>
                  <a:srgbClr val="5FBE8A"/>
                </a:solidFill>
                <a:latin typeface="Yu Gothic" pitchFamily="34" charset="0"/>
                <a:ea typeface="Yu Gothic" pitchFamily="34" charset="-122"/>
                <a:cs typeface="Yu Gothic" pitchFamily="34" charset="-120"/>
              </a:rPr>
              <a:t>●</a:t>
            </a:r>
            <a:endParaRPr lang="en-US" sz="1200" dirty="0"/>
          </a:p>
        </p:txBody>
      </p:sp>
      <p:sp>
        <p:nvSpPr>
          <p:cNvPr id="17" name="Text 15"/>
          <p:cNvSpPr txBox="1"/>
          <p:nvPr/>
        </p:nvSpPr>
        <p:spPr>
          <a:xfrm>
            <a:off x="10671048" y="2487168"/>
            <a:ext cx="822960" cy="347472"/>
          </a:xfrm>
          <a:prstGeom prst="rect">
            <a:avLst/>
          </a:prstGeom>
          <a:noFill/>
          <a:ln/>
        </p:spPr>
        <p:txBody>
          <a:bodyPr wrap="square" lIns="0" tIns="0" rIns="0" bIns="0" rtlCol="0" anchor="ctr"/>
          <a:lstStyle/>
          <a:p>
            <a:pPr algn="ctr" indent="0" marL="0">
              <a:buNone/>
            </a:pPr>
            <a:r>
              <a:rPr lang="en-US" sz="1200" b="1" dirty="0">
                <a:solidFill>
                  <a:srgbClr val="5FBE8A"/>
                </a:solidFill>
                <a:latin typeface="Yu Gothic" pitchFamily="34" charset="0"/>
                <a:ea typeface="Yu Gothic" pitchFamily="34" charset="-122"/>
                <a:cs typeface="Yu Gothic" pitchFamily="34" charset="-120"/>
              </a:rPr>
              <a:t>●</a:t>
            </a:r>
            <a:endParaRPr lang="en-US" sz="1200" dirty="0"/>
          </a:p>
        </p:txBody>
      </p:sp>
      <p:sp>
        <p:nvSpPr>
          <p:cNvPr id="18" name="Shape 16"/>
          <p:cNvSpPr/>
          <p:nvPr/>
        </p:nvSpPr>
        <p:spPr>
          <a:xfrm>
            <a:off x="7763256" y="2926080"/>
            <a:ext cx="3721608" cy="420624"/>
          </a:xfrm>
          <a:prstGeom prst="rect">
            <a:avLst/>
          </a:prstGeom>
          <a:solidFill>
            <a:srgbClr val="24303A"/>
          </a:solidFill>
          <a:ln w="6350">
            <a:solidFill>
              <a:srgbClr val="24303A"/>
            </a:solidFill>
            <a:prstDash val="solid"/>
          </a:ln>
        </p:spPr>
      </p:sp>
      <p:sp>
        <p:nvSpPr>
          <p:cNvPr id="19" name="Shape 17"/>
          <p:cNvSpPr/>
          <p:nvPr/>
        </p:nvSpPr>
        <p:spPr>
          <a:xfrm>
            <a:off x="7891272" y="2907792"/>
            <a:ext cx="3465576" cy="0"/>
          </a:xfrm>
          <a:prstGeom prst="line">
            <a:avLst/>
          </a:prstGeom>
          <a:noFill/>
          <a:ln w="6350">
            <a:solidFill>
              <a:srgbClr val="2B353E"/>
            </a:solidFill>
            <a:prstDash val="solid"/>
          </a:ln>
        </p:spPr>
      </p:sp>
      <p:sp>
        <p:nvSpPr>
          <p:cNvPr id="20" name="Text 18"/>
          <p:cNvSpPr txBox="1"/>
          <p:nvPr/>
        </p:nvSpPr>
        <p:spPr>
          <a:xfrm>
            <a:off x="7891272" y="2962656"/>
            <a:ext cx="1828800" cy="347472"/>
          </a:xfrm>
          <a:prstGeom prst="rect">
            <a:avLst/>
          </a:prstGeom>
          <a:noFill/>
          <a:ln/>
        </p:spPr>
        <p:txBody>
          <a:bodyPr wrap="square" lIns="0" tIns="0" rIns="0" bIns="0" rtlCol="0" anchor="ctr"/>
          <a:lstStyle/>
          <a:p>
            <a:pPr indent="0" marL="0">
              <a:buNone/>
            </a:pPr>
            <a:r>
              <a:rPr lang="en-US" sz="1050" b="1" dirty="0">
                <a:solidFill>
                  <a:srgbClr val="E7EDF2"/>
                </a:solidFill>
                <a:latin typeface="Yu Gothic" pitchFamily="34" charset="0"/>
                <a:ea typeface="Yu Gothic" pitchFamily="34" charset="-122"/>
                <a:cs typeface="Yu Gothic" pitchFamily="34" charset="-120"/>
              </a:rPr>
              <a:t>Windows ネイティブ</a:t>
            </a:r>
            <a:endParaRPr lang="en-US" sz="1050" dirty="0"/>
          </a:p>
        </p:txBody>
      </p:sp>
      <p:sp>
        <p:nvSpPr>
          <p:cNvPr id="21" name="Text 19"/>
          <p:cNvSpPr txBox="1"/>
          <p:nvPr/>
        </p:nvSpPr>
        <p:spPr>
          <a:xfrm>
            <a:off x="9784080" y="2962656"/>
            <a:ext cx="822960" cy="347472"/>
          </a:xfrm>
          <a:prstGeom prst="rect">
            <a:avLst/>
          </a:prstGeom>
          <a:noFill/>
          <a:ln/>
        </p:spPr>
        <p:txBody>
          <a:bodyPr wrap="square" lIns="0" tIns="0" rIns="0" bIns="0" rtlCol="0" anchor="ctr"/>
          <a:lstStyle/>
          <a:p>
            <a:pPr algn="ctr" indent="0" marL="0">
              <a:buNone/>
            </a:pPr>
            <a:r>
              <a:rPr lang="en-US" sz="1200" b="1" dirty="0">
                <a:solidFill>
                  <a:srgbClr val="5FBE8A"/>
                </a:solidFill>
                <a:latin typeface="Yu Gothic" pitchFamily="34" charset="0"/>
                <a:ea typeface="Yu Gothic" pitchFamily="34" charset="-122"/>
                <a:cs typeface="Yu Gothic" pitchFamily="34" charset="-120"/>
              </a:rPr>
              <a:t>●</a:t>
            </a:r>
            <a:endParaRPr lang="en-US" sz="1200" dirty="0"/>
          </a:p>
        </p:txBody>
      </p:sp>
      <p:sp>
        <p:nvSpPr>
          <p:cNvPr id="22" name="Text 20"/>
          <p:cNvSpPr txBox="1"/>
          <p:nvPr/>
        </p:nvSpPr>
        <p:spPr>
          <a:xfrm>
            <a:off x="10671048" y="2962656"/>
            <a:ext cx="822960" cy="347472"/>
          </a:xfrm>
          <a:prstGeom prst="rect">
            <a:avLst/>
          </a:prstGeom>
          <a:noFill/>
          <a:ln/>
        </p:spPr>
        <p:txBody>
          <a:bodyPr wrap="square" lIns="0" tIns="0" rIns="0" bIns="0" rtlCol="0" anchor="ctr"/>
          <a:lstStyle/>
          <a:p>
            <a:pPr algn="ctr" indent="0" marL="0">
              <a:buNone/>
            </a:pPr>
            <a:r>
              <a:rPr lang="en-US" sz="1400" b="1" dirty="0">
                <a:solidFill>
                  <a:srgbClr val="E2776C"/>
                </a:solidFill>
                <a:latin typeface="Yu Gothic" pitchFamily="34" charset="0"/>
                <a:ea typeface="Yu Gothic" pitchFamily="34" charset="-122"/>
                <a:cs typeface="Yu Gothic" pitchFamily="34" charset="-120"/>
              </a:rPr>
              <a:t>✕</a:t>
            </a:r>
            <a:endParaRPr lang="en-US" sz="1400" dirty="0"/>
          </a:p>
        </p:txBody>
      </p:sp>
      <p:sp>
        <p:nvSpPr>
          <p:cNvPr id="23" name="Shape 21"/>
          <p:cNvSpPr/>
          <p:nvPr/>
        </p:nvSpPr>
        <p:spPr>
          <a:xfrm>
            <a:off x="7891272" y="3383280"/>
            <a:ext cx="3465576" cy="0"/>
          </a:xfrm>
          <a:prstGeom prst="line">
            <a:avLst/>
          </a:prstGeom>
          <a:noFill/>
          <a:ln w="6350">
            <a:solidFill>
              <a:srgbClr val="2B353E"/>
            </a:solidFill>
            <a:prstDash val="solid"/>
          </a:ln>
        </p:spPr>
      </p:sp>
      <p:sp>
        <p:nvSpPr>
          <p:cNvPr id="24" name="Text 22"/>
          <p:cNvSpPr txBox="1"/>
          <p:nvPr/>
        </p:nvSpPr>
        <p:spPr>
          <a:xfrm>
            <a:off x="7891272" y="3438144"/>
            <a:ext cx="1828800" cy="347472"/>
          </a:xfrm>
          <a:prstGeom prst="rect">
            <a:avLst/>
          </a:prstGeom>
          <a:noFill/>
          <a:ln/>
        </p:spPr>
        <p:txBody>
          <a:bodyPr wrap="square" lIns="0" tIns="0" rIns="0" bIns="0" rtlCol="0" anchor="ctr"/>
          <a:lstStyle/>
          <a:p>
            <a:pPr indent="0" marL="0">
              <a:buNone/>
            </a:pPr>
            <a:r>
              <a:rPr lang="en-US" sz="1050" dirty="0">
                <a:solidFill>
                  <a:srgbClr val="E7EDF2"/>
                </a:solidFill>
                <a:latin typeface="Yu Gothic" pitchFamily="34" charset="0"/>
                <a:ea typeface="Yu Gothic" pitchFamily="34" charset="-122"/>
                <a:cs typeface="Yu Gothic" pitchFamily="34" charset="-120"/>
              </a:rPr>
              <a:t>WSL2</a:t>
            </a:r>
            <a:endParaRPr lang="en-US" sz="1050" dirty="0"/>
          </a:p>
        </p:txBody>
      </p:sp>
      <p:sp>
        <p:nvSpPr>
          <p:cNvPr id="25" name="Text 23"/>
          <p:cNvSpPr txBox="1"/>
          <p:nvPr/>
        </p:nvSpPr>
        <p:spPr>
          <a:xfrm>
            <a:off x="9784080" y="3438144"/>
            <a:ext cx="822960" cy="347472"/>
          </a:xfrm>
          <a:prstGeom prst="rect">
            <a:avLst/>
          </a:prstGeom>
          <a:noFill/>
          <a:ln/>
        </p:spPr>
        <p:txBody>
          <a:bodyPr wrap="square" lIns="0" tIns="0" rIns="0" bIns="0" rtlCol="0" anchor="ctr"/>
          <a:lstStyle/>
          <a:p>
            <a:pPr algn="ctr" indent="0" marL="0">
              <a:buNone/>
            </a:pPr>
            <a:r>
              <a:rPr lang="en-US" sz="1200" b="1" dirty="0">
                <a:solidFill>
                  <a:srgbClr val="5FBE8A"/>
                </a:solidFill>
                <a:latin typeface="Yu Gothic" pitchFamily="34" charset="0"/>
                <a:ea typeface="Yu Gothic" pitchFamily="34" charset="-122"/>
                <a:cs typeface="Yu Gothic" pitchFamily="34" charset="-120"/>
              </a:rPr>
              <a:t>●</a:t>
            </a:r>
            <a:endParaRPr lang="en-US" sz="1200" dirty="0"/>
          </a:p>
        </p:txBody>
      </p:sp>
      <p:sp>
        <p:nvSpPr>
          <p:cNvPr id="26" name="Text 24"/>
          <p:cNvSpPr txBox="1"/>
          <p:nvPr/>
        </p:nvSpPr>
        <p:spPr>
          <a:xfrm>
            <a:off x="10671048" y="3438144"/>
            <a:ext cx="822960" cy="347472"/>
          </a:xfrm>
          <a:prstGeom prst="rect">
            <a:avLst/>
          </a:prstGeom>
          <a:noFill/>
          <a:ln/>
        </p:spPr>
        <p:txBody>
          <a:bodyPr wrap="square" lIns="0" tIns="0" rIns="0" bIns="0" rtlCol="0" anchor="ctr"/>
          <a:lstStyle/>
          <a:p>
            <a:pPr algn="ctr" indent="0" marL="0">
              <a:buNone/>
            </a:pPr>
            <a:r>
              <a:rPr lang="en-US" sz="1200" b="1" dirty="0">
                <a:solidFill>
                  <a:srgbClr val="5FBE8A"/>
                </a:solidFill>
                <a:latin typeface="Yu Gothic" pitchFamily="34" charset="0"/>
                <a:ea typeface="Yu Gothic" pitchFamily="34" charset="-122"/>
                <a:cs typeface="Yu Gothic" pitchFamily="34" charset="-120"/>
              </a:rPr>
              <a:t>●</a:t>
            </a:r>
            <a:endParaRPr lang="en-US" sz="1200" dirty="0"/>
          </a:p>
        </p:txBody>
      </p:sp>
      <p:sp>
        <p:nvSpPr>
          <p:cNvPr id="27" name="Shape 25"/>
          <p:cNvSpPr/>
          <p:nvPr/>
        </p:nvSpPr>
        <p:spPr>
          <a:xfrm>
            <a:off x="7891272" y="4059936"/>
            <a:ext cx="3465576" cy="0"/>
          </a:xfrm>
          <a:prstGeom prst="line">
            <a:avLst/>
          </a:prstGeom>
          <a:noFill/>
          <a:ln w="9525">
            <a:solidFill>
              <a:srgbClr val="2B353E"/>
            </a:solidFill>
            <a:prstDash val="solid"/>
          </a:ln>
        </p:spPr>
      </p:sp>
      <p:sp>
        <p:nvSpPr>
          <p:cNvPr id="28" name="Text 26"/>
          <p:cNvSpPr txBox="1"/>
          <p:nvPr/>
        </p:nvSpPr>
        <p:spPr>
          <a:xfrm>
            <a:off x="7891272" y="4178808"/>
            <a:ext cx="3465576" cy="548640"/>
          </a:xfrm>
          <a:prstGeom prst="rect">
            <a:avLst/>
          </a:prstGeom>
          <a:noFill/>
          <a:ln/>
        </p:spPr>
        <p:txBody>
          <a:bodyPr wrap="square" lIns="0" tIns="0" rIns="0" bIns="0" rtlCol="0" anchor="t"/>
          <a:lstStyle/>
          <a:p>
            <a:pPr indent="0" marL="0">
              <a:lnSpc>
                <a:spcPct val="130000"/>
              </a:lnSpc>
              <a:buNone/>
            </a:pPr>
            <a:r>
              <a:rPr lang="en-US" sz="950" b="1" dirty="0">
                <a:solidFill>
                  <a:srgbClr val="E2776C"/>
                </a:solidFill>
                <a:latin typeface="Yu Gothic" pitchFamily="34" charset="0"/>
                <a:ea typeface="Yu Gothic" pitchFamily="34" charset="-122"/>
                <a:cs typeface="Yu Gothic" pitchFamily="34" charset="-120"/>
              </a:rPr>
              <a:t>この 1 セル</a:t>
            </a:r>
            <a:pPr indent="0" marL="0">
              <a:lnSpc>
                <a:spcPct val="130000"/>
              </a:lnSpc>
              <a:buNone/>
            </a:pPr>
            <a:r>
              <a:rPr lang="en-US" sz="950" dirty="0">
                <a:solidFill>
                  <a:srgbClr val="78858F"/>
                </a:solidFill>
                <a:latin typeface="Yu Gothic" pitchFamily="34" charset="0"/>
                <a:ea typeface="Yu Gothic" pitchFamily="34" charset="-122"/>
                <a:cs typeface="Yu Gothic" pitchFamily="34" charset="-120"/>
              </a:rPr>
              <a:t>が、Windows での運用設計を分けます。実装の詳細は 05〜08 枚目。</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0"/>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8858F"/>
                </a:solidFill>
                <a:latin typeface="Courier New" pitchFamily="34" charset="0"/>
                <a:ea typeface="Courier New" pitchFamily="34" charset="-122"/>
                <a:cs typeface="Courier New" pitchFamily="34" charset="-120"/>
              </a:rPr>
              <a:t>結論</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E7EDF2"/>
                </a:solidFill>
                <a:latin typeface="Yu Gothic" pitchFamily="34" charset="0"/>
                <a:ea typeface="Yu Gothic" pitchFamily="34" charset="-122"/>
                <a:cs typeface="Yu Gothic" pitchFamily="34" charset="-120"/>
              </a:rPr>
              <a:t>差は「OS の隔離機構をどこまで使えるか」に集約される</a:t>
            </a:r>
            <a:endParaRPr lang="en-US" sz="2600" dirty="0"/>
          </a:p>
        </p:txBody>
      </p:sp>
      <p:sp>
        <p:nvSpPr>
          <p:cNvPr id="4" name="Shape 2"/>
          <p:cNvSpPr/>
          <p:nvPr/>
        </p:nvSpPr>
        <p:spPr>
          <a:xfrm>
            <a:off x="566928" y="6327648"/>
            <a:ext cx="11057839" cy="0"/>
          </a:xfrm>
          <a:prstGeom prst="line">
            <a:avLst/>
          </a:prstGeom>
          <a:noFill/>
          <a:ln w="9525">
            <a:solidFill>
              <a:srgbClr val="2B353E"/>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8858F"/>
                </a:solidFill>
                <a:latin typeface="Courier New" pitchFamily="34" charset="0"/>
                <a:ea typeface="Courier New" pitchFamily="34" charset="-122"/>
                <a:cs typeface="Courier New" pitchFamily="34" charset="-120"/>
              </a:rPr>
              <a:t>EXECUTIVE SUMMARY</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A5B1BB"/>
                </a:solidFill>
                <a:latin typeface="Courier New" pitchFamily="34" charset="0"/>
                <a:ea typeface="Courier New" pitchFamily="34" charset="-122"/>
                <a:cs typeface="Courier New" pitchFamily="34" charset="-120"/>
              </a:rPr>
              <a:t>02 / 17</a:t>
            </a:r>
            <a:endParaRPr lang="en-US" sz="900" dirty="0"/>
          </a:p>
        </p:txBody>
      </p:sp>
      <p:sp>
        <p:nvSpPr>
          <p:cNvPr id="7" name="Text 5"/>
          <p:cNvSpPr txBox="1"/>
          <p:nvPr/>
        </p:nvSpPr>
        <p:spPr>
          <a:xfrm>
            <a:off x="566928" y="1572768"/>
            <a:ext cx="822960" cy="457200"/>
          </a:xfrm>
          <a:prstGeom prst="rect">
            <a:avLst/>
          </a:prstGeom>
          <a:noFill/>
          <a:ln/>
        </p:spPr>
        <p:txBody>
          <a:bodyPr wrap="square" lIns="0" tIns="0" rIns="0" bIns="0" rtlCol="0" anchor="t"/>
          <a:lstStyle/>
          <a:p>
            <a:pPr indent="0" marL="0">
              <a:buNone/>
            </a:pPr>
            <a:r>
              <a:rPr lang="en-US" sz="2600" b="1" dirty="0">
                <a:solidFill>
                  <a:srgbClr val="78858F"/>
                </a:solidFill>
                <a:latin typeface="Courier New" pitchFamily="34" charset="0"/>
                <a:ea typeface="Courier New" pitchFamily="34" charset="-122"/>
                <a:cs typeface="Courier New" pitchFamily="34" charset="-120"/>
              </a:rPr>
              <a:t>01</a:t>
            </a:r>
            <a:endParaRPr lang="en-US" sz="2600" dirty="0"/>
          </a:p>
        </p:txBody>
      </p:sp>
      <p:sp>
        <p:nvSpPr>
          <p:cNvPr id="8" name="Text 6"/>
          <p:cNvSpPr txBox="1"/>
          <p:nvPr/>
        </p:nvSpPr>
        <p:spPr>
          <a:xfrm>
            <a:off x="1481328" y="1572768"/>
            <a:ext cx="10143439" cy="310896"/>
          </a:xfrm>
          <a:prstGeom prst="rect">
            <a:avLst/>
          </a:prstGeom>
          <a:noFill/>
          <a:ln/>
        </p:spPr>
        <p:txBody>
          <a:bodyPr wrap="square" lIns="0" tIns="0" rIns="0" bIns="0" rtlCol="0" anchor="ctr"/>
          <a:lstStyle/>
          <a:p>
            <a:pPr indent="0" marL="0">
              <a:buNone/>
            </a:pPr>
            <a:r>
              <a:rPr lang="en-US" sz="1400" b="1" dirty="0">
                <a:solidFill>
                  <a:srgbClr val="E7EDF2"/>
                </a:solidFill>
                <a:latin typeface="Yu Gothic" pitchFamily="34" charset="0"/>
                <a:ea typeface="Yu Gothic" pitchFamily="34" charset="-122"/>
                <a:cs typeface="Yu Gothic" pitchFamily="34" charset="-120"/>
              </a:rPr>
              <a:t>サンドボックス — ネイティブ Windows で明暗が分かれる</a:t>
            </a:r>
            <a:endParaRPr lang="en-US" sz="1400" dirty="0"/>
          </a:p>
        </p:txBody>
      </p:sp>
      <p:sp>
        <p:nvSpPr>
          <p:cNvPr id="9" name="Text 7"/>
          <p:cNvSpPr txBox="1"/>
          <p:nvPr/>
        </p:nvSpPr>
        <p:spPr>
          <a:xfrm>
            <a:off x="1481328" y="1938528"/>
            <a:ext cx="10143439" cy="868680"/>
          </a:xfrm>
          <a:prstGeom prst="rect">
            <a:avLst/>
          </a:prstGeom>
          <a:noFill/>
          <a:ln/>
        </p:spPr>
        <p:txBody>
          <a:bodyPr wrap="square" lIns="0" tIns="0" rIns="0" bIns="0" rtlCol="0" anchor="t"/>
          <a:lstStyle/>
          <a:p>
            <a:pPr indent="0" marL="0">
              <a:lnSpc>
                <a:spcPct val="138000"/>
              </a:lnSpc>
              <a:buNone/>
            </a:pPr>
            <a:r>
              <a:rPr lang="en-US" sz="1050" dirty="0">
                <a:solidFill>
                  <a:srgbClr val="A5B1BB"/>
                </a:solidFill>
                <a:latin typeface="Yu Gothic" pitchFamily="34" charset="0"/>
                <a:ea typeface="Yu Gothic" pitchFamily="34" charset="-122"/>
                <a:cs typeface="Yu Gothic" pitchFamily="34" charset="-120"/>
              </a:rPr>
              <a:t>Claude Code のサンドボックスは macOS・Linux・WSL2 でのみ動作し、ネイティブ Windows では非対応。一方 Codex は Windows 専用のサンドボックス（制限付きトークン方式）を実装し、3 OS すべてで隔離が効きます。Windows で Claude Code に強い隔離を求めるなら、WSL2 に寄せるのが唯一の道です。</a:t>
            </a:r>
            <a:endParaRPr lang="en-US" sz="1050" dirty="0"/>
          </a:p>
        </p:txBody>
      </p:sp>
      <p:sp>
        <p:nvSpPr>
          <p:cNvPr id="10" name="Shape 8"/>
          <p:cNvSpPr/>
          <p:nvPr/>
        </p:nvSpPr>
        <p:spPr>
          <a:xfrm>
            <a:off x="566928" y="2898648"/>
            <a:ext cx="11057839" cy="0"/>
          </a:xfrm>
          <a:prstGeom prst="line">
            <a:avLst/>
          </a:prstGeom>
          <a:noFill/>
          <a:ln w="9525">
            <a:solidFill>
              <a:srgbClr val="2B353E"/>
            </a:solidFill>
            <a:prstDash val="solid"/>
          </a:ln>
        </p:spPr>
      </p:sp>
      <p:sp>
        <p:nvSpPr>
          <p:cNvPr id="11" name="Text 9"/>
          <p:cNvSpPr txBox="1"/>
          <p:nvPr/>
        </p:nvSpPr>
        <p:spPr>
          <a:xfrm>
            <a:off x="566928" y="3090672"/>
            <a:ext cx="822960" cy="457200"/>
          </a:xfrm>
          <a:prstGeom prst="rect">
            <a:avLst/>
          </a:prstGeom>
          <a:noFill/>
          <a:ln/>
        </p:spPr>
        <p:txBody>
          <a:bodyPr wrap="square" lIns="0" tIns="0" rIns="0" bIns="0" rtlCol="0" anchor="t"/>
          <a:lstStyle/>
          <a:p>
            <a:pPr indent="0" marL="0">
              <a:buNone/>
            </a:pPr>
            <a:r>
              <a:rPr lang="en-US" sz="2600" b="1" dirty="0">
                <a:solidFill>
                  <a:srgbClr val="78858F"/>
                </a:solidFill>
                <a:latin typeface="Courier New" pitchFamily="34" charset="0"/>
                <a:ea typeface="Courier New" pitchFamily="34" charset="-122"/>
                <a:cs typeface="Courier New" pitchFamily="34" charset="-120"/>
              </a:rPr>
              <a:t>02</a:t>
            </a:r>
            <a:endParaRPr lang="en-US" sz="2600" dirty="0"/>
          </a:p>
        </p:txBody>
      </p:sp>
      <p:sp>
        <p:nvSpPr>
          <p:cNvPr id="12" name="Text 10"/>
          <p:cNvSpPr txBox="1"/>
          <p:nvPr/>
        </p:nvSpPr>
        <p:spPr>
          <a:xfrm>
            <a:off x="1481328" y="3090672"/>
            <a:ext cx="10143439" cy="310896"/>
          </a:xfrm>
          <a:prstGeom prst="rect">
            <a:avLst/>
          </a:prstGeom>
          <a:noFill/>
          <a:ln/>
        </p:spPr>
        <p:txBody>
          <a:bodyPr wrap="square" lIns="0" tIns="0" rIns="0" bIns="0" rtlCol="0" anchor="ctr"/>
          <a:lstStyle/>
          <a:p>
            <a:pPr indent="0" marL="0">
              <a:buNone/>
            </a:pPr>
            <a:r>
              <a:rPr lang="en-US" sz="1400" b="1" dirty="0">
                <a:solidFill>
                  <a:srgbClr val="E7EDF2"/>
                </a:solidFill>
                <a:latin typeface="Yu Gothic" pitchFamily="34" charset="0"/>
                <a:ea typeface="Yu Gothic" pitchFamily="34" charset="-122"/>
                <a:cs typeface="Yu Gothic" pitchFamily="34" charset="-120"/>
              </a:rPr>
              <a:t>シェル — Windows での「素の実行環境」が違う</a:t>
            </a:r>
            <a:endParaRPr lang="en-US" sz="1400" dirty="0"/>
          </a:p>
        </p:txBody>
      </p:sp>
      <p:sp>
        <p:nvSpPr>
          <p:cNvPr id="13" name="Text 11"/>
          <p:cNvSpPr txBox="1"/>
          <p:nvPr/>
        </p:nvSpPr>
        <p:spPr>
          <a:xfrm>
            <a:off x="1481328" y="3456432"/>
            <a:ext cx="10143439" cy="868680"/>
          </a:xfrm>
          <a:prstGeom prst="rect">
            <a:avLst/>
          </a:prstGeom>
          <a:noFill/>
          <a:ln/>
        </p:spPr>
        <p:txBody>
          <a:bodyPr wrap="square" lIns="0" tIns="0" rIns="0" bIns="0" rtlCol="0" anchor="t"/>
          <a:lstStyle/>
          <a:p>
            <a:pPr indent="0" marL="0">
              <a:lnSpc>
                <a:spcPct val="138000"/>
              </a:lnSpc>
              <a:buNone/>
            </a:pPr>
            <a:r>
              <a:rPr lang="en-US" sz="1050" dirty="0">
                <a:solidFill>
                  <a:srgbClr val="A5B1BB"/>
                </a:solidFill>
                <a:latin typeface="Yu Gothic" pitchFamily="34" charset="0"/>
                <a:ea typeface="Yu Gothic" pitchFamily="34" charset="-122"/>
                <a:cs typeface="Yu Gothic" pitchFamily="34" charset="-120"/>
              </a:rPr>
              <a:t>Codex は Windows で PowerShell をネイティブに扱います。Claude Code は Git for Windows を入れれば Git Bash 経由の Bash ツール、入れなければ PowerShell ツールに切り替わる二段構え。同じプロンプトでも生成されるコマンドの方言が変わります。</a:t>
            </a:r>
            <a:endParaRPr lang="en-US" sz="1050" dirty="0"/>
          </a:p>
        </p:txBody>
      </p:sp>
      <p:sp>
        <p:nvSpPr>
          <p:cNvPr id="14" name="Shape 12"/>
          <p:cNvSpPr/>
          <p:nvPr/>
        </p:nvSpPr>
        <p:spPr>
          <a:xfrm>
            <a:off x="566928" y="4416552"/>
            <a:ext cx="11057839" cy="0"/>
          </a:xfrm>
          <a:prstGeom prst="line">
            <a:avLst/>
          </a:prstGeom>
          <a:noFill/>
          <a:ln w="9525">
            <a:solidFill>
              <a:srgbClr val="2B353E"/>
            </a:solidFill>
            <a:prstDash val="solid"/>
          </a:ln>
        </p:spPr>
      </p:sp>
      <p:sp>
        <p:nvSpPr>
          <p:cNvPr id="15" name="Text 13"/>
          <p:cNvSpPr txBox="1"/>
          <p:nvPr/>
        </p:nvSpPr>
        <p:spPr>
          <a:xfrm>
            <a:off x="566928" y="4608576"/>
            <a:ext cx="822960" cy="457200"/>
          </a:xfrm>
          <a:prstGeom prst="rect">
            <a:avLst/>
          </a:prstGeom>
          <a:noFill/>
          <a:ln/>
        </p:spPr>
        <p:txBody>
          <a:bodyPr wrap="square" lIns="0" tIns="0" rIns="0" bIns="0" rtlCol="0" anchor="t"/>
          <a:lstStyle/>
          <a:p>
            <a:pPr indent="0" marL="0">
              <a:buNone/>
            </a:pPr>
            <a:r>
              <a:rPr lang="en-US" sz="2600" b="1" dirty="0">
                <a:solidFill>
                  <a:srgbClr val="78858F"/>
                </a:solidFill>
                <a:latin typeface="Courier New" pitchFamily="34" charset="0"/>
                <a:ea typeface="Courier New" pitchFamily="34" charset="-122"/>
                <a:cs typeface="Courier New" pitchFamily="34" charset="-120"/>
              </a:rPr>
              <a:t>03</a:t>
            </a:r>
            <a:endParaRPr lang="en-US" sz="2600" dirty="0"/>
          </a:p>
        </p:txBody>
      </p:sp>
      <p:sp>
        <p:nvSpPr>
          <p:cNvPr id="16" name="Text 14"/>
          <p:cNvSpPr txBox="1"/>
          <p:nvPr/>
        </p:nvSpPr>
        <p:spPr>
          <a:xfrm>
            <a:off x="1481328" y="4608576"/>
            <a:ext cx="10143439" cy="310896"/>
          </a:xfrm>
          <a:prstGeom prst="rect">
            <a:avLst/>
          </a:prstGeom>
          <a:noFill/>
          <a:ln/>
        </p:spPr>
        <p:txBody>
          <a:bodyPr wrap="square" lIns="0" tIns="0" rIns="0" bIns="0" rtlCol="0" anchor="ctr"/>
          <a:lstStyle/>
          <a:p>
            <a:pPr indent="0" marL="0">
              <a:buNone/>
            </a:pPr>
            <a:r>
              <a:rPr lang="en-US" sz="1400" b="1" dirty="0">
                <a:solidFill>
                  <a:srgbClr val="E7EDF2"/>
                </a:solidFill>
                <a:latin typeface="Yu Gothic" pitchFamily="34" charset="0"/>
                <a:ea typeface="Yu Gothic" pitchFamily="34" charset="-122"/>
                <a:cs typeface="Yu Gothic" pitchFamily="34" charset="-120"/>
              </a:rPr>
              <a:t>デスクトップ操作 — macOS だけが「並列・背後で」動く</a:t>
            </a:r>
            <a:endParaRPr lang="en-US" sz="1400" dirty="0"/>
          </a:p>
        </p:txBody>
      </p:sp>
      <p:sp>
        <p:nvSpPr>
          <p:cNvPr id="17" name="Text 15"/>
          <p:cNvSpPr txBox="1"/>
          <p:nvPr/>
        </p:nvSpPr>
        <p:spPr>
          <a:xfrm>
            <a:off x="1481328" y="4974336"/>
            <a:ext cx="10143439" cy="868680"/>
          </a:xfrm>
          <a:prstGeom prst="rect">
            <a:avLst/>
          </a:prstGeom>
          <a:noFill/>
          <a:ln/>
        </p:spPr>
        <p:txBody>
          <a:bodyPr wrap="square" lIns="0" tIns="0" rIns="0" bIns="0" rtlCol="0" anchor="t"/>
          <a:lstStyle/>
          <a:p>
            <a:pPr indent="0" marL="0">
              <a:lnSpc>
                <a:spcPct val="138000"/>
              </a:lnSpc>
              <a:buNone/>
            </a:pPr>
            <a:r>
              <a:rPr lang="en-US" sz="1050" dirty="0">
                <a:solidFill>
                  <a:srgbClr val="A5B1BB"/>
                </a:solidFill>
                <a:latin typeface="Yu Gothic" pitchFamily="34" charset="0"/>
                <a:ea typeface="Yu Gothic" pitchFamily="34" charset="-122"/>
                <a:cs typeface="Yu Gothic" pitchFamily="34" charset="-120"/>
              </a:rPr>
              <a:t>Codex の Computer Use は macOS ではバックグラウンドで複数エージェントが並列動作し、ユーザーの作業を妨げません。Windows ではアクティブデスクトップ上でのみ動作し、実行中はポインタと前面を占有します。</a:t>
            </a:r>
            <a:endParaRPr lang="en-US" sz="1050" dirty="0"/>
          </a:p>
        </p:txBody>
      </p:sp>
      <p:sp>
        <p:nvSpPr>
          <p:cNvPr id="18" name="Shape 16"/>
          <p:cNvSpPr/>
          <p:nvPr/>
        </p:nvSpPr>
        <p:spPr>
          <a:xfrm>
            <a:off x="1481328" y="5961888"/>
            <a:ext cx="438912" cy="201168"/>
          </a:xfrm>
          <a:prstGeom prst="roundRect">
            <a:avLst>
              <a:gd name="adj" fmla="val 13636"/>
            </a:avLst>
          </a:prstGeom>
          <a:solidFill>
            <a:srgbClr val="FFFFFF">
              <a:alpha val="0"/>
            </a:srgbClr>
          </a:solidFill>
          <a:ln w="9525">
            <a:solidFill>
              <a:srgbClr val="78858F"/>
            </a:solidFill>
            <a:prstDash val="dash"/>
          </a:ln>
        </p:spPr>
      </p:sp>
      <p:sp>
        <p:nvSpPr>
          <p:cNvPr id="19" name="Text 17"/>
          <p:cNvSpPr txBox="1"/>
          <p:nvPr/>
        </p:nvSpPr>
        <p:spPr>
          <a:xfrm>
            <a:off x="1481328" y="5961888"/>
            <a:ext cx="438912" cy="201168"/>
          </a:xfrm>
          <a:prstGeom prst="rect">
            <a:avLst/>
          </a:prstGeom>
          <a:noFill/>
          <a:ln/>
        </p:spPr>
        <p:txBody>
          <a:bodyPr wrap="square" lIns="0" tIns="0" rIns="0" bIns="0" rtlCol="0" anchor="ctr"/>
          <a:lstStyle/>
          <a:p>
            <a:pPr algn="ctr" indent="0" marL="0">
              <a:buNone/>
            </a:pPr>
            <a:r>
              <a:rPr lang="en-US" sz="800" b="1" dirty="0">
                <a:solidFill>
                  <a:srgbClr val="78858F"/>
                </a:solidFill>
                <a:latin typeface="Courier New" pitchFamily="34" charset="0"/>
                <a:ea typeface="Courier New" pitchFamily="34" charset="-122"/>
                <a:cs typeface="Courier New" pitchFamily="34" charset="-120"/>
              </a:rPr>
              <a:t>二次情報</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前提の整理</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まず「Codex」「Claude Code」の指す範囲を揃える</a:t>
            </a:r>
            <a:endParaRPr lang="en-US" sz="2600" dirty="0"/>
          </a:p>
        </p:txBody>
      </p:sp>
      <p:sp>
        <p:nvSpPr>
          <p:cNvPr id="4" name="Text 2"/>
          <p:cNvSpPr txBox="1"/>
          <p:nvPr/>
        </p:nvSpPr>
        <p:spPr>
          <a:xfrm>
            <a:off x="566928" y="1216152"/>
            <a:ext cx="11057839" cy="384048"/>
          </a:xfrm>
          <a:prstGeom prst="rect">
            <a:avLst/>
          </a:prstGeom>
          <a:noFill/>
          <a:ln/>
        </p:spPr>
        <p:txBody>
          <a:bodyPr wrap="square" lIns="0" tIns="0" rIns="0" bIns="0" rtlCol="0" anchor="t"/>
          <a:lstStyle/>
          <a:p>
            <a:pPr indent="0" marL="0">
              <a:lnSpc>
                <a:spcPct val="130000"/>
              </a:lnSpc>
              <a:buNone/>
            </a:pPr>
            <a:r>
              <a:rPr lang="en-US" sz="1200" dirty="0">
                <a:solidFill>
                  <a:srgbClr val="4C5762"/>
                </a:solidFill>
                <a:latin typeface="Yu Gothic" pitchFamily="34" charset="0"/>
                <a:ea typeface="Yu Gothic" pitchFamily="34" charset="-122"/>
                <a:cs typeface="Yu Gothic" pitchFamily="34" charset="-120"/>
              </a:rPr>
              <a:t>どちらも単一の製品ではなく 4 レイヤーの製品群です。OS 差はレイヤーごとに現れ方が違うため、比較の粒度を先に固定します。</a:t>
            </a:r>
            <a:endParaRPr lang="en-US" sz="1200" dirty="0"/>
          </a:p>
        </p:txBody>
      </p:sp>
      <p:sp>
        <p:nvSpPr>
          <p:cNvPr id="5" name="Shape 3"/>
          <p:cNvSpPr/>
          <p:nvPr/>
        </p:nvSpPr>
        <p:spPr>
          <a:xfrm>
            <a:off x="566928" y="6327648"/>
            <a:ext cx="11057839" cy="0"/>
          </a:xfrm>
          <a:prstGeom prst="line">
            <a:avLst/>
          </a:prstGeom>
          <a:noFill/>
          <a:ln w="9525">
            <a:solidFill>
              <a:srgbClr val="D4DAE0"/>
            </a:solidFill>
            <a:prstDash val="solid"/>
          </a:ln>
        </p:spPr>
      </p:sp>
      <p:sp>
        <p:nvSpPr>
          <p:cNvPr id="6" name="Text 4"/>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PRODUCT LANDSCAPE</a:t>
            </a:r>
            <a:endParaRPr lang="en-US" sz="900" dirty="0"/>
          </a:p>
        </p:txBody>
      </p:sp>
      <p:sp>
        <p:nvSpPr>
          <p:cNvPr id="7" name="Text 5"/>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03 / 17</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920240"/>
                <a:gridCol w="4572000"/>
                <a:gridCol w="4562856"/>
              </a:tblGrid>
              <a:tr h="310896">
                <a:tc>
                  <a:txBody>
                    <a:bodyPr/>
                    <a:lstStyle/>
                    <a:p>
                      <a:pPr indent="0" marL="0">
                        <a:buNone/>
                      </a:pPr>
                      <a:r>
                        <a:rPr lang="en-US" sz="950" b="1" dirty="0">
                          <a:solidFill>
                            <a:srgbClr val="7B8792"/>
                          </a:solidFill>
                          <a:latin typeface="Courier New" pitchFamily="34" charset="0"/>
                          <a:ea typeface="Courier New" pitchFamily="34" charset="-122"/>
                          <a:cs typeface="Courier New" pitchFamily="34" charset="-120"/>
                        </a:rPr>
                        <a:t>レイヤー</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0B5E78"/>
                          </a:solidFill>
                          <a:latin typeface="Courier New" pitchFamily="34" charset="0"/>
                          <a:ea typeface="Courier New" pitchFamily="34" charset="-122"/>
                          <a:cs typeface="Courier New" pitchFamily="34" charset="-120"/>
                        </a:rPr>
                        <a:t>CODEX（OpenAI）</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8A6B1F"/>
                          </a:solidFill>
                          <a:latin typeface="Courier New" pitchFamily="34" charset="0"/>
                          <a:ea typeface="Courier New" pitchFamily="34" charset="-122"/>
                          <a:cs typeface="Courier New" pitchFamily="34" charset="-120"/>
                        </a:rPr>
                        <a:t>CLAUDE CODE（Anthropic）</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r>
              <a:tr h="78638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CLI</a:t>
                      </a:r>
                      <a:endParaRPr lang="en-US" sz="1050" dirty="0">
                        <a:latin typeface="Yu Gothic" charset="0"/>
                        <a:ea typeface="Yu Gothic" charset="0"/>
                        <a:cs typeface="Yu Gothic" charset="0"/>
                      </a:endParaRPr>
                    </a:p>
                    <a:p>
                      <a:pPr indent="0" marL="0">
                        <a:buNone/>
                      </a:pPr>
                      <a:r>
                        <a:rPr lang="en-US" sz="900" dirty="0">
                          <a:solidFill>
                            <a:srgbClr val="7B8792"/>
                          </a:solidFill>
                          <a:latin typeface="Yu Gothic" pitchFamily="34" charset="0"/>
                          <a:ea typeface="Yu Gothic" pitchFamily="34" charset="-122"/>
                          <a:cs typeface="Yu Gothic" pitchFamily="34" charset="-120"/>
                        </a:rPr>
                        <a:t>ターミナル本体</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Codex CLI（Rust 実装）</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macOS / Linux / Windows ネイティブ / WSL2</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claude（ネイティブバイナリ）</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macOS 13+ / Windows 10 1809+ / Ubuntu 20.04+ / Debian 10+ / Alpine 3.19+</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78638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デスクトップ</a:t>
                      </a:r>
                      <a:endParaRPr lang="en-US" sz="1050" dirty="0">
                        <a:latin typeface="Yu Gothic" charset="0"/>
                        <a:ea typeface="Yu Gothic" charset="0"/>
                        <a:cs typeface="Yu Gothic" charset="0"/>
                      </a:endParaRPr>
                    </a:p>
                    <a:p>
                      <a:pPr indent="0" marL="0">
                        <a:buNone/>
                      </a:pPr>
                      <a:r>
                        <a:rPr lang="en-US" sz="900" dirty="0">
                          <a:solidFill>
                            <a:srgbClr val="7B8792"/>
                          </a:solidFill>
                          <a:latin typeface="Yu Gothic" pitchFamily="34" charset="0"/>
                          <a:ea typeface="Yu Gothic" pitchFamily="34" charset="-122"/>
                          <a:cs typeface="Yu Gothic" pitchFamily="34" charset="-120"/>
                        </a:rPr>
                        <a:t>GUI アプリ</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Codex app</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macOS 先行（2026-02）→ Windows（2026-03-04）</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Claude デスクトップアプリの Code タブ</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macOS（Universal）/ Windows（x64・ARM64）/ Linux（beta）</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78638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クラウド</a:t>
                      </a:r>
                      <a:endParaRPr lang="en-US" sz="1050" dirty="0">
                        <a:latin typeface="Yu Gothic" charset="0"/>
                        <a:ea typeface="Yu Gothic" charset="0"/>
                        <a:cs typeface="Yu Gothic" charset="0"/>
                      </a:endParaRPr>
                    </a:p>
                    <a:p>
                      <a:pPr indent="0" marL="0">
                        <a:buNone/>
                      </a:pPr>
                      <a:r>
                        <a:rPr lang="en-US" sz="900" dirty="0">
                          <a:solidFill>
                            <a:srgbClr val="7B8792"/>
                          </a:solidFill>
                          <a:latin typeface="Yu Gothic" pitchFamily="34" charset="0"/>
                          <a:ea typeface="Yu Gothic" pitchFamily="34" charset="-122"/>
                          <a:cs typeface="Yu Gothic" pitchFamily="34" charset="-120"/>
                        </a:rPr>
                        <a:t>ブラウザ実行</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Codex Web</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OS 非依存。ローカル OS の制約を受けない</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Claude Code on the web</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OS 非依存。デスクトップの Cloud セッションと同一基盤</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56692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IDE 拡張</a:t>
                      </a:r>
                      <a:endParaRPr lang="en-US" sz="1050" dirty="0">
                        <a:latin typeface="Yu Gothic" charset="0"/>
                        <a:ea typeface="Yu Gothic" charset="0"/>
                        <a:cs typeface="Yu Gothic" charset="0"/>
                      </a:endParaRPr>
                    </a:p>
                    <a:p>
                      <a:pPr indent="0" marL="0">
                        <a:buNone/>
                      </a:pPr>
                      <a:r>
                        <a:rPr lang="en-US" sz="900" dirty="0">
                          <a:solidFill>
                            <a:srgbClr val="7B8792"/>
                          </a:solidFill>
                          <a:latin typeface="Yu Gothic" pitchFamily="34" charset="0"/>
                          <a:ea typeface="Yu Gothic" pitchFamily="34" charset="-122"/>
                          <a:cs typeface="Yu Gothic" pitchFamily="34" charset="-120"/>
                        </a:rPr>
                        <a:t>エディタ統合</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Codex IDE 拡張（VS Code 系）</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VS Code 拡張 / JetBrains プラグイン</a:t>
                      </a:r>
                      <a:endParaRPr lang="en-US" sz="1050" dirty="0">
                        <a:latin typeface="Yu Gothic" charset="0"/>
                        <a:ea typeface="Yu Gothic" charset="0"/>
                        <a:cs typeface="Yu Gothic" charset="0"/>
                      </a:endParaRPr>
                    </a:p>
                  </a:txBody>
                  <a:tcPr marL="114300" marR="114300" marT="88900" marB="889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bl>
          </a:graphicData>
        </a:graphic>
      </p:graphicFrame>
      <p:sp>
        <p:nvSpPr>
          <p:cNvPr id="9" name="Text 6"/>
          <p:cNvSpPr txBox="1"/>
          <p:nvPr/>
        </p:nvSpPr>
        <p:spPr>
          <a:xfrm>
            <a:off x="566928" y="5760720"/>
            <a:ext cx="11057839" cy="365760"/>
          </a:xfrm>
          <a:prstGeom prst="rect">
            <a:avLst/>
          </a:prstGeom>
          <a:noFill/>
          <a:ln/>
        </p:spPr>
        <p:txBody>
          <a:bodyPr wrap="square" lIns="0" tIns="0" rIns="0" bIns="0" rtlCol="0" anchor="t"/>
          <a:lstStyle/>
          <a:p>
            <a:pPr indent="0" marL="0">
              <a:lnSpc>
                <a:spcPct val="125000"/>
              </a:lnSpc>
              <a:buNone/>
            </a:pPr>
            <a:r>
              <a:rPr lang="en-US" sz="900" b="1" dirty="0">
                <a:solidFill>
                  <a:srgbClr val="4C5762"/>
                </a:solidFill>
                <a:latin typeface="Yu Gothic" pitchFamily="34" charset="0"/>
                <a:ea typeface="Yu Gothic" pitchFamily="34" charset="-122"/>
                <a:cs typeface="Yu Gothic" pitchFamily="34" charset="-120"/>
              </a:rPr>
              <a:t>本資料の対象： </a:t>
            </a:r>
            <a:pPr indent="0" marL="0">
              <a:lnSpc>
                <a:spcPct val="125000"/>
              </a:lnSpc>
              <a:buNone/>
            </a:pPr>
            <a:r>
              <a:rPr lang="en-US" sz="900" dirty="0">
                <a:solidFill>
                  <a:srgbClr val="7B8792"/>
                </a:solidFill>
                <a:latin typeface="Yu Gothic" pitchFamily="34" charset="0"/>
                <a:ea typeface="Yu Gothic" pitchFamily="34" charset="-122"/>
                <a:cs typeface="Yu Gothic" pitchFamily="34" charset="-120"/>
              </a:rPr>
              <a:t>OS 差が実際に効くのは CLI とデスクトップの 2 レイヤーです。クラウド実行はどちらも OS 非依存のため、以降は扱いません。</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導入</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対応 OS とインストール経路</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INSTALLATION</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04 / 17</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691640"/>
                <a:gridCol w="4681728"/>
                <a:gridCol w="4681728"/>
              </a:tblGrid>
              <a:tr h="310896">
                <a:tc>
                  <a:txBody>
                    <a:bodyPr/>
                    <a:lstStyle/>
                    <a:p>
                      <a:pPr indent="0" marL="0">
                        <a:buNone/>
                      </a:pPr>
                      <a:r>
                        <a:rPr lang="en-US" sz="950" b="1" dirty="0">
                          <a:solidFill>
                            <a:srgbClr val="7B8792"/>
                          </a:solidFill>
                          <a:latin typeface="Courier New" pitchFamily="34" charset="0"/>
                          <a:ea typeface="Courier New" pitchFamily="34" charset="-122"/>
                          <a:cs typeface="Courier New" pitchFamily="34" charset="-120"/>
                        </a:rPr>
                        <a:t>項目</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0B5E78"/>
                          </a:solidFill>
                          <a:latin typeface="Courier New" pitchFamily="34" charset="0"/>
                          <a:ea typeface="Courier New" pitchFamily="34" charset="-122"/>
                          <a:cs typeface="Courier New" pitchFamily="34" charset="-120"/>
                        </a:rPr>
                        <a:t>CODEX</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8A6B1F"/>
                          </a:solidFill>
                          <a:latin typeface="Courier New" pitchFamily="34" charset="0"/>
                          <a:ea typeface="Courier New" pitchFamily="34" charset="-122"/>
                          <a:cs typeface="Courier New" pitchFamily="34" charset="-120"/>
                        </a:rPr>
                        <a:t>CLAUDE CODE</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r>
              <a:tr h="713232">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macOS</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950" dirty="0">
                          <a:solidFill>
                            <a:srgbClr val="111820"/>
                          </a:solidFill>
                          <a:latin typeface="Courier New" pitchFamily="34" charset="0"/>
                          <a:ea typeface="Courier New" pitchFamily="34" charset="-122"/>
                          <a:cs typeface="Courier New" pitchFamily="34" charset="-120"/>
                        </a:rPr>
                        <a:t>curl -fsSL https://chatgpt.com/codex/install.sh | sh</a:t>
                      </a:r>
                      <a:endParaRPr lang="en-US" sz="1050" dirty="0">
                        <a:latin typeface="Yu Gothic" charset="0"/>
                        <a:ea typeface="Yu Gothic" charset="0"/>
                        <a:cs typeface="Yu Gothic" charset="0"/>
                      </a:endParaRPr>
                    </a:p>
                    <a:p>
                      <a:pPr indent="0" marL="0">
                        <a:buNone/>
                      </a:pPr>
                      <a:r>
                        <a:rPr lang="en-US" sz="950" dirty="0">
                          <a:solidFill>
                            <a:srgbClr val="111820"/>
                          </a:solidFill>
                          <a:latin typeface="Courier New" pitchFamily="34" charset="0"/>
                          <a:ea typeface="Courier New" pitchFamily="34" charset="-122"/>
                          <a:cs typeface="Courier New" pitchFamily="34" charset="-120"/>
                        </a:rPr>
                        <a:t>brew install --cask codex</a:t>
                      </a:r>
                      <a:endParaRPr lang="en-US" sz="1050" dirty="0">
                        <a:latin typeface="Yu Gothic" charset="0"/>
                        <a:ea typeface="Yu Gothic" charset="0"/>
                        <a:cs typeface="Yu Gothic" charset="0"/>
                      </a:endParaRPr>
                    </a:p>
                    <a:p>
                      <a:pPr indent="0" marL="0">
                        <a:buNone/>
                      </a:pPr>
                      <a:r>
                        <a:rPr lang="en-US" sz="950" dirty="0">
                          <a:solidFill>
                            <a:srgbClr val="111820"/>
                          </a:solidFill>
                          <a:latin typeface="Courier New" pitchFamily="34" charset="0"/>
                          <a:ea typeface="Courier New" pitchFamily="34" charset="-122"/>
                          <a:cs typeface="Courier New" pitchFamily="34" charset="-120"/>
                        </a:rPr>
                        <a:t>npm i -g @openai/codex</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950" dirty="0">
                          <a:solidFill>
                            <a:srgbClr val="111820"/>
                          </a:solidFill>
                          <a:latin typeface="Courier New" pitchFamily="34" charset="0"/>
                          <a:ea typeface="Courier New" pitchFamily="34" charset="-122"/>
                          <a:cs typeface="Courier New" pitchFamily="34" charset="-120"/>
                        </a:rPr>
                        <a:t>curl -fsSL https://claude.ai/install.sh | bash</a:t>
                      </a:r>
                      <a:endParaRPr lang="en-US" sz="1050" dirty="0">
                        <a:latin typeface="Yu Gothic" charset="0"/>
                        <a:ea typeface="Yu Gothic" charset="0"/>
                        <a:cs typeface="Yu Gothic" charset="0"/>
                      </a:endParaRPr>
                    </a:p>
                    <a:p>
                      <a:pPr indent="0" marL="0">
                        <a:buNone/>
                      </a:pPr>
                      <a:r>
                        <a:rPr lang="en-US" sz="950" dirty="0">
                          <a:solidFill>
                            <a:srgbClr val="111820"/>
                          </a:solidFill>
                          <a:latin typeface="Courier New" pitchFamily="34" charset="0"/>
                          <a:ea typeface="Courier New" pitchFamily="34" charset="-122"/>
                          <a:cs typeface="Courier New" pitchFamily="34" charset="-120"/>
                        </a:rPr>
                        <a:t>brew install --cask claude-code</a:t>
                      </a:r>
                      <a:endParaRPr lang="en-US" sz="1050" dirty="0">
                        <a:latin typeface="Yu Gothic" charset="0"/>
                        <a:ea typeface="Yu Gothic" charset="0"/>
                        <a:cs typeface="Yu Gothic" charset="0"/>
                      </a:endParaRPr>
                    </a:p>
                    <a:p>
                      <a:pPr indent="0" marL="0">
                        <a:buNone/>
                      </a:pPr>
                      <a:r>
                        <a:rPr lang="en-US" sz="1000" dirty="0">
                          <a:solidFill>
                            <a:srgbClr val="4C5762"/>
                          </a:solidFill>
                          <a:latin typeface="Yu Gothic" pitchFamily="34" charset="0"/>
                          <a:ea typeface="Yu Gothic" pitchFamily="34" charset="-122"/>
                          <a:cs typeface="Yu Gothic" pitchFamily="34" charset="-120"/>
                        </a:rPr>
                        <a:t>（@latest cask で最新チャンネル）</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78638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Windows</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950" dirty="0">
                          <a:solidFill>
                            <a:srgbClr val="111820"/>
                          </a:solidFill>
                          <a:latin typeface="Courier New" pitchFamily="34" charset="0"/>
                          <a:ea typeface="Courier New" pitchFamily="34" charset="-122"/>
                          <a:cs typeface="Courier New" pitchFamily="34" charset="-120"/>
                        </a:rPr>
                        <a:t>irm https://chatgpt.com/codex/install.ps1 | iex</a:t>
                      </a:r>
                      <a:endParaRPr lang="en-US" sz="1050" dirty="0">
                        <a:latin typeface="Yu Gothic" charset="0"/>
                        <a:ea typeface="Yu Gothic" charset="0"/>
                        <a:cs typeface="Yu Gothic" charset="0"/>
                      </a:endParaRPr>
                    </a:p>
                    <a:p>
                      <a:pPr indent="0" marL="0">
                        <a:buNone/>
                      </a:pPr>
                      <a:r>
                        <a:rPr lang="en-US" sz="1000" dirty="0">
                          <a:solidFill>
                            <a:srgbClr val="4C5762"/>
                          </a:solidFill>
                          <a:latin typeface="Yu Gothic" pitchFamily="34" charset="0"/>
                          <a:ea typeface="Yu Gothic" pitchFamily="34" charset="-122"/>
                          <a:cs typeface="Yu Gothic" pitchFamily="34" charset="-120"/>
                        </a:rPr>
                        <a:t>Codex app は Microsoft Store / </a:t>
                      </a:r>
                      <a:endParaRPr lang="en-US" sz="1050" dirty="0">
                        <a:latin typeface="Yu Gothic" charset="0"/>
                        <a:ea typeface="Yu Gothic" charset="0"/>
                        <a:cs typeface="Yu Gothic" charset="0"/>
                      </a:endParaRPr>
                    </a:p>
                    <a:p>
                      <a:pPr indent="0" marL="0">
                        <a:buNone/>
                      </a:pPr>
                      <a:r>
                        <a:rPr lang="en-US" sz="950" dirty="0">
                          <a:solidFill>
                            <a:srgbClr val="111820"/>
                          </a:solidFill>
                          <a:latin typeface="Courier New" pitchFamily="34" charset="0"/>
                          <a:ea typeface="Courier New" pitchFamily="34" charset="-122"/>
                          <a:cs typeface="Courier New" pitchFamily="34" charset="-120"/>
                        </a:rPr>
                        <a:t>winget install Codex -s msstore</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950" dirty="0">
                          <a:solidFill>
                            <a:srgbClr val="111820"/>
                          </a:solidFill>
                          <a:latin typeface="Courier New" pitchFamily="34" charset="0"/>
                          <a:ea typeface="Courier New" pitchFamily="34" charset="-122"/>
                          <a:cs typeface="Courier New" pitchFamily="34" charset="-120"/>
                        </a:rPr>
                        <a:t>irm https://claude.ai/install.ps1 | iex</a:t>
                      </a:r>
                      <a:endParaRPr lang="en-US" sz="1050" dirty="0">
                        <a:latin typeface="Yu Gothic" charset="0"/>
                        <a:ea typeface="Yu Gothic" charset="0"/>
                        <a:cs typeface="Yu Gothic" charset="0"/>
                      </a:endParaRPr>
                    </a:p>
                    <a:p>
                      <a:pPr indent="0" marL="0">
                        <a:buNone/>
                      </a:pPr>
                      <a:r>
                        <a:rPr lang="en-US" sz="1000" dirty="0">
                          <a:solidFill>
                            <a:srgbClr val="4C5762"/>
                          </a:solidFill>
                          <a:latin typeface="Yu Gothic" pitchFamily="34" charset="0"/>
                          <a:ea typeface="Yu Gothic" pitchFamily="34" charset="-122"/>
                          <a:cs typeface="Yu Gothic" pitchFamily="34" charset="-120"/>
                        </a:rPr>
                        <a:t>（PowerShell）／ CMD は install.cmd</a:t>
                      </a:r>
                      <a:endParaRPr lang="en-US" sz="1050" dirty="0">
                        <a:latin typeface="Yu Gothic" charset="0"/>
                        <a:ea typeface="Yu Gothic" charset="0"/>
                        <a:cs typeface="Yu Gothic" charset="0"/>
                      </a:endParaRPr>
                    </a:p>
                    <a:p>
                      <a:pPr indent="0" marL="0">
                        <a:buNone/>
                      </a:pPr>
                      <a:r>
                        <a:rPr lang="en-US" sz="950" dirty="0">
                          <a:solidFill>
                            <a:srgbClr val="111820"/>
                          </a:solidFill>
                          <a:latin typeface="Courier New" pitchFamily="34" charset="0"/>
                          <a:ea typeface="Courier New" pitchFamily="34" charset="-122"/>
                          <a:cs typeface="Courier New" pitchFamily="34" charset="-120"/>
                        </a:rPr>
                        <a:t>winget install Anthropic.ClaudeCode</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530352">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Linux / WSL</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macOS と同一のインストーラ</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同一のインストーラ ＋ 署名付き apt / dnf / apk リポジトリ</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78638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自動更新</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ネイティブインストーラ経由で更新</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00" b="1" dirty="0">
                          <a:solidFill>
                            <a:srgbClr val="111820"/>
                          </a:solidFill>
                          <a:latin typeface="Yu Gothic" pitchFamily="34" charset="0"/>
                          <a:ea typeface="Yu Gothic" pitchFamily="34" charset="-122"/>
                          <a:cs typeface="Yu Gothic" pitchFamily="34" charset="-120"/>
                        </a:rPr>
                        <a:t>ネイティブはバックグラウンド自動更新。</a:t>
                      </a:r>
                      <a:endParaRPr lang="en-US" sz="1050" dirty="0">
                        <a:latin typeface="Yu Gothic" charset="0"/>
                        <a:ea typeface="Yu Gothic" charset="0"/>
                        <a:cs typeface="Yu Gothic" charset="0"/>
                      </a:endParaRPr>
                    </a:p>
                    <a:p>
                      <a:pPr indent="0" marL="0">
                        <a:buNone/>
                      </a:pPr>
                      <a:r>
                        <a:rPr lang="en-US" sz="1000" dirty="0">
                          <a:solidFill>
                            <a:srgbClr val="4C5762"/>
                          </a:solidFill>
                          <a:latin typeface="Yu Gothic" pitchFamily="34" charset="0"/>
                          <a:ea typeface="Yu Gothic" pitchFamily="34" charset="-122"/>
                          <a:cs typeface="Yu Gothic" pitchFamily="34" charset="-120"/>
                        </a:rPr>
                        <a:t>Homebrew / WinGet / apt 系は手動。</a:t>
                      </a:r>
                      <a:endParaRPr lang="en-US" sz="1050" dirty="0">
                        <a:latin typeface="Yu Gothic" charset="0"/>
                        <a:ea typeface="Yu Gothic" charset="0"/>
                        <a:cs typeface="Yu Gothic" charset="0"/>
                      </a:endParaRPr>
                    </a:p>
                    <a:p>
                      <a:pPr indent="0" marL="0">
                        <a:buNone/>
                      </a:pPr>
                      <a:r>
                        <a:rPr lang="en-US" sz="1000" dirty="0">
                          <a:solidFill>
                            <a:srgbClr val="4C5762"/>
                          </a:solidFill>
                          <a:latin typeface="Yu Gothic" pitchFamily="34" charset="0"/>
                          <a:ea typeface="Yu Gothic" pitchFamily="34" charset="-122"/>
                          <a:cs typeface="Yu Gothic" pitchFamily="34" charset="-120"/>
                        </a:rPr>
                        <a:t>autoUpdatesChannel で latest / stable を選択、minimumVersion で下限を固定</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78638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コード署名</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配布物は公式リリースから取得</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00" b="1" dirty="0">
                          <a:solidFill>
                            <a:srgbClr val="111820"/>
                          </a:solidFill>
                          <a:latin typeface="Yu Gothic" pitchFamily="34" charset="0"/>
                          <a:ea typeface="Yu Gothic" pitchFamily="34" charset="-122"/>
                          <a:cs typeface="Yu Gothic" pitchFamily="34" charset="-120"/>
                        </a:rPr>
                        <a:t>macOS＝Anthropic PBC 署名 ＋ Apple 公証</a:t>
                      </a:r>
                      <a:endParaRPr lang="en-US" sz="1050" dirty="0">
                        <a:latin typeface="Yu Gothic" charset="0"/>
                        <a:ea typeface="Yu Gothic" charset="0"/>
                        <a:cs typeface="Yu Gothic" charset="0"/>
                      </a:endParaRPr>
                    </a:p>
                    <a:p>
                      <a:pPr indent="0" marL="0">
                        <a:buNone/>
                      </a:pPr>
                      <a:r>
                        <a:rPr lang="en-US" sz="1000" dirty="0">
                          <a:solidFill>
                            <a:srgbClr val="4C5762"/>
                          </a:solidFill>
                          <a:latin typeface="Yu Gothic" pitchFamily="34" charset="0"/>
                          <a:ea typeface="Yu Gothic" pitchFamily="34" charset="-122"/>
                          <a:cs typeface="Yu Gothic" pitchFamily="34" charset="-120"/>
                        </a:rPr>
                        <a:t>Windows＝Authenticode「Anthropic, PBC」</a:t>
                      </a:r>
                      <a:endParaRPr lang="en-US" sz="1050" dirty="0">
                        <a:latin typeface="Yu Gothic" charset="0"/>
                        <a:ea typeface="Yu Gothic" charset="0"/>
                        <a:cs typeface="Yu Gothic" charset="0"/>
                      </a:endParaRPr>
                    </a:p>
                    <a:p>
                      <a:pPr indent="0" marL="0">
                        <a:buNone/>
                      </a:pPr>
                      <a:r>
                        <a:rPr lang="en-US" sz="1000" dirty="0">
                          <a:solidFill>
                            <a:srgbClr val="4C5762"/>
                          </a:solidFill>
                          <a:latin typeface="Yu Gothic" pitchFamily="34" charset="0"/>
                          <a:ea typeface="Yu Gothic" pitchFamily="34" charset="-122"/>
                          <a:cs typeface="Yu Gothic" pitchFamily="34" charset="-120"/>
                        </a:rPr>
                        <a:t>Linux＝個別署名なし（署名付きマニフェストで検証）</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bl>
          </a:graphicData>
        </a:graphic>
      </p:graphicFrame>
      <p:sp>
        <p:nvSpPr>
          <p:cNvPr id="8" name="Text 5"/>
          <p:cNvSpPr txBox="1"/>
          <p:nvPr/>
        </p:nvSpPr>
        <p:spPr>
          <a:xfrm>
            <a:off x="566928" y="5806440"/>
            <a:ext cx="11057839" cy="365760"/>
          </a:xfrm>
          <a:prstGeom prst="rect">
            <a:avLst/>
          </a:prstGeom>
          <a:noFill/>
          <a:ln/>
        </p:spPr>
        <p:txBody>
          <a:bodyPr wrap="square" lIns="0" tIns="0" rIns="0" bIns="0" rtlCol="0" anchor="t"/>
          <a:lstStyle/>
          <a:p>
            <a:pPr indent="0" marL="0">
              <a:lnSpc>
                <a:spcPct val="125000"/>
              </a:lnSpc>
              <a:buNone/>
            </a:pPr>
            <a:r>
              <a:rPr lang="en-US" sz="900" b="1" dirty="0">
                <a:solidFill>
                  <a:srgbClr val="4C5762"/>
                </a:solidFill>
                <a:latin typeface="Yu Gothic" pitchFamily="34" charset="0"/>
                <a:ea typeface="Yu Gothic" pitchFamily="34" charset="-122"/>
                <a:cs typeface="Yu Gothic" pitchFamily="34" charset="-120"/>
              </a:rPr>
              <a:t>補足： </a:t>
            </a:r>
            <a:pPr indent="0" marL="0">
              <a:lnSpc>
                <a:spcPct val="125000"/>
              </a:lnSpc>
              <a:buNone/>
            </a:pPr>
            <a:r>
              <a:rPr lang="en-US" sz="900" dirty="0">
                <a:solidFill>
                  <a:srgbClr val="7B8792"/>
                </a:solidFill>
                <a:latin typeface="Yu Gothic" pitchFamily="34" charset="0"/>
                <a:ea typeface="Yu Gothic" pitchFamily="34" charset="-122"/>
                <a:cs typeface="Yu Gothic" pitchFamily="34" charset="-120"/>
              </a:rPr>
              <a:t>Claude Code の npm パッケージは Node.js 22+ が必要（v2.1.198 以降）。対応プラットフォームに win32-x64 / win32-arm64 / darwin-arm64 / darwin-x64 を含みます。</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核心 — 対比マトリクス</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サンドボックス対応表：ここが最大の分岐点</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SANDBOX MATRIX</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05 / 17</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103120"/>
                <a:gridCol w="4480560"/>
                <a:gridCol w="4471416"/>
              </a:tblGrid>
              <a:tr h="310896">
                <a:tc>
                  <a:txBody>
                    <a:bodyPr/>
                    <a:lstStyle/>
                    <a:p>
                      <a:pPr indent="0" marL="0">
                        <a:buNone/>
                      </a:pPr>
                      <a:r>
                        <a:rPr lang="en-US" sz="950" b="1" dirty="0">
                          <a:solidFill>
                            <a:srgbClr val="7B8792"/>
                          </a:solidFill>
                          <a:latin typeface="Courier New" pitchFamily="34" charset="0"/>
                          <a:ea typeface="Courier New" pitchFamily="34" charset="-122"/>
                          <a:cs typeface="Courier New" pitchFamily="34" charset="-120"/>
                        </a:rPr>
                        <a:t>実行環境</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0B5E78"/>
                          </a:solidFill>
                          <a:latin typeface="Courier New" pitchFamily="34" charset="0"/>
                          <a:ea typeface="Courier New" pitchFamily="34" charset="-122"/>
                          <a:cs typeface="Courier New" pitchFamily="34" charset="-120"/>
                        </a:rPr>
                        <a:t>CODEX</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8A6B1F"/>
                          </a:solidFill>
                          <a:latin typeface="Courier New" pitchFamily="34" charset="0"/>
                          <a:ea typeface="Courier New" pitchFamily="34" charset="-122"/>
                          <a:cs typeface="Courier New" pitchFamily="34" charset="-120"/>
                        </a:rPr>
                        <a:t>CLAUDE CODE</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r>
              <a:tr h="65836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macOS</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100" b="1" dirty="0">
                          <a:solidFill>
                            <a:srgbClr val="2C7A50"/>
                          </a:solidFill>
                          <a:latin typeface="Yu Gothic" pitchFamily="34" charset="0"/>
                          <a:ea typeface="Yu Gothic" pitchFamily="34" charset="-122"/>
                          <a:cs typeface="Yu Gothic" pitchFamily="34" charset="-120"/>
                        </a:rPr>
                        <a:t>● </a:t>
                      </a:r>
                      <a:pPr indent="0" marL="0">
                        <a:buNone/>
                      </a:pPr>
                      <a:r>
                        <a:rPr lang="en-US" sz="1100" b="1" dirty="0">
                          <a:solidFill>
                            <a:srgbClr val="2C7A50"/>
                          </a:solidFill>
                          <a:latin typeface="Yu Gothic" pitchFamily="34" charset="0"/>
                          <a:ea typeface="Yu Gothic" pitchFamily="34" charset="-122"/>
                          <a:cs typeface="Yu Gothic" pitchFamily="34" charset="-120"/>
                        </a:rPr>
                        <a:t>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Seatbelt。/usr/bin/sandbox-exec を絶対パスで呼び、.sbpl ポリシーを埋め込み</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100" b="1" dirty="0">
                          <a:solidFill>
                            <a:srgbClr val="2C7A50"/>
                          </a:solidFill>
                          <a:latin typeface="Yu Gothic" pitchFamily="34" charset="0"/>
                          <a:ea typeface="Yu Gothic" pitchFamily="34" charset="-122"/>
                          <a:cs typeface="Yu Gothic" pitchFamily="34" charset="-120"/>
                        </a:rPr>
                        <a:t>● </a:t>
                      </a:r>
                      <a:pPr indent="0" marL="0">
                        <a:buNone/>
                      </a:pPr>
                      <a:r>
                        <a:rPr lang="en-US" sz="1100" b="1" dirty="0">
                          <a:solidFill>
                            <a:srgbClr val="2C7A50"/>
                          </a:solidFill>
                          <a:latin typeface="Yu Gothic" pitchFamily="34" charset="0"/>
                          <a:ea typeface="Yu Gothic" pitchFamily="34" charset="-122"/>
                          <a:cs typeface="Yu Gothic" pitchFamily="34" charset="-120"/>
                        </a:rPr>
                        <a:t>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Seatbelt。OS 内蔵のためインストール作業は不要</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65836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Linux</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100" b="1" dirty="0">
                          <a:solidFill>
                            <a:srgbClr val="2C7A50"/>
                          </a:solidFill>
                          <a:latin typeface="Yu Gothic" pitchFamily="34" charset="0"/>
                          <a:ea typeface="Yu Gothic" pitchFamily="34" charset="-122"/>
                          <a:cs typeface="Yu Gothic" pitchFamily="34" charset="-120"/>
                        </a:rPr>
                        <a:t>● </a:t>
                      </a:r>
                      <a:pPr indent="0" marL="0">
                        <a:buNone/>
                      </a:pPr>
                      <a:r>
                        <a:rPr lang="en-US" sz="1100" b="1" dirty="0">
                          <a:solidFill>
                            <a:srgbClr val="2C7A50"/>
                          </a:solidFill>
                          <a:latin typeface="Yu Gothic" pitchFamily="34" charset="0"/>
                          <a:ea typeface="Yu Gothic" pitchFamily="34" charset="-122"/>
                          <a:cs typeface="Yu Gothic" pitchFamily="34" charset="-120"/>
                        </a:rPr>
                        <a:t>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Landlock（FS）＋ seccomp（syscall）。bubblewrap 経路も実装</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100" b="1" dirty="0">
                          <a:solidFill>
                            <a:srgbClr val="2C7A50"/>
                          </a:solidFill>
                          <a:latin typeface="Yu Gothic" pitchFamily="34" charset="0"/>
                          <a:ea typeface="Yu Gothic" pitchFamily="34" charset="-122"/>
                          <a:cs typeface="Yu Gothic" pitchFamily="34" charset="-120"/>
                        </a:rPr>
                        <a:t>● </a:t>
                      </a:r>
                      <a:pPr indent="0" marL="0">
                        <a:buNone/>
                      </a:pPr>
                      <a:r>
                        <a:rPr lang="en-US" sz="1100" b="1" dirty="0">
                          <a:solidFill>
                            <a:srgbClr val="2C7A50"/>
                          </a:solidFill>
                          <a:latin typeface="Yu Gothic" pitchFamily="34" charset="0"/>
                          <a:ea typeface="Yu Gothic" pitchFamily="34" charset="-122"/>
                          <a:cs typeface="Yu Gothic" pitchFamily="34" charset="-120"/>
                        </a:rPr>
                        <a:t>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bubblewrap（FS）＋ socat（ネットワーク）。seccomp フィルタは任意で追加</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74980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Windows ネイティブ</a:t>
                      </a:r>
                      <a:endParaRPr lang="en-US" sz="1050" dirty="0">
                        <a:latin typeface="Yu Gothic" charset="0"/>
                        <a:ea typeface="Yu Gothic" charset="0"/>
                        <a:cs typeface="Yu Gothic" charset="0"/>
                      </a:endParaRPr>
                    </a:p>
                    <a:p>
                      <a:pPr indent="0" marL="0">
                        <a:buNone/>
                      </a:pPr>
                      <a:r>
                        <a:rPr lang="en-US" sz="900" dirty="0">
                          <a:solidFill>
                            <a:srgbClr val="7B8792"/>
                          </a:solidFill>
                          <a:latin typeface="Yu Gothic" pitchFamily="34" charset="0"/>
                          <a:ea typeface="Yu Gothic" pitchFamily="34" charset="-122"/>
                          <a:cs typeface="Yu Gothic" pitchFamily="34" charset="-120"/>
                        </a:rPr>
                        <a:t>PowerShell / CMD</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100" b="1" dirty="0">
                          <a:solidFill>
                            <a:srgbClr val="2C7A50"/>
                          </a:solidFill>
                          <a:latin typeface="Yu Gothic" pitchFamily="34" charset="0"/>
                          <a:ea typeface="Yu Gothic" pitchFamily="34" charset="-122"/>
                          <a:cs typeface="Yu Gothic" pitchFamily="34" charset="-120"/>
                        </a:rPr>
                        <a:t>● </a:t>
                      </a:r>
                      <a:pPr indent="0" marL="0">
                        <a:buNone/>
                      </a:pPr>
                      <a:r>
                        <a:rPr lang="en-US" sz="1100" b="1" dirty="0">
                          <a:solidFill>
                            <a:srgbClr val="2C7A50"/>
                          </a:solidFill>
                          <a:latin typeface="Yu Gothic" pitchFamily="34" charset="0"/>
                          <a:ea typeface="Yu Gothic" pitchFamily="34" charset="-122"/>
                          <a:cs typeface="Yu Gothic" pitchFamily="34" charset="-120"/>
                        </a:rPr>
                        <a:t>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Windows 専用実装。elevated（推奨）と unelevated の 2 モード</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100" b="1" dirty="0">
                          <a:solidFill>
                            <a:srgbClr val="AE3B33"/>
                          </a:solidFill>
                          <a:latin typeface="Yu Gothic" pitchFamily="34" charset="0"/>
                          <a:ea typeface="Yu Gothic" pitchFamily="34" charset="-122"/>
                          <a:cs typeface="Yu Gothic" pitchFamily="34" charset="-120"/>
                        </a:rPr>
                        <a:t>✕ </a:t>
                      </a:r>
                      <a:pPr indent="0" marL="0">
                        <a:buNone/>
                      </a:pPr>
                      <a:r>
                        <a:rPr lang="en-US" sz="1100" b="1" dirty="0">
                          <a:solidFill>
                            <a:srgbClr val="AE3B33"/>
                          </a:solidFill>
                          <a:latin typeface="Yu Gothic" pitchFamily="34" charset="0"/>
                          <a:ea typeface="Yu Gothic" pitchFamily="34" charset="-122"/>
                          <a:cs typeface="Yu Gothic" pitchFamily="34" charset="-120"/>
                        </a:rPr>
                        <a:t>非対応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公式ドキュメント：「The sandbox does not run on native Windows」。承認モデルのみが防御線</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65836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WSL2</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100" b="1" dirty="0">
                          <a:solidFill>
                            <a:srgbClr val="2C7A50"/>
                          </a:solidFill>
                          <a:latin typeface="Yu Gothic" pitchFamily="34" charset="0"/>
                          <a:ea typeface="Yu Gothic" pitchFamily="34" charset="-122"/>
                          <a:cs typeface="Yu Gothic" pitchFamily="34" charset="-120"/>
                        </a:rPr>
                        <a:t>● </a:t>
                      </a:r>
                      <a:pPr indent="0" marL="0">
                        <a:buNone/>
                      </a:pPr>
                      <a:r>
                        <a:rPr lang="en-US" sz="1100" b="1" dirty="0">
                          <a:solidFill>
                            <a:srgbClr val="2C7A50"/>
                          </a:solidFill>
                          <a:latin typeface="Yu Gothic" pitchFamily="34" charset="0"/>
                          <a:ea typeface="Yu Gothic" pitchFamily="34" charset="-122"/>
                          <a:cs typeface="Yu Gothic" pitchFamily="34" charset="-120"/>
                        </a:rPr>
                        <a:t>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Linux 実装をそのまま利用。ネイティブサンドボックスが使えない環境の逃げ道</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100" b="1" dirty="0">
                          <a:solidFill>
                            <a:srgbClr val="2C7A50"/>
                          </a:solidFill>
                          <a:latin typeface="Yu Gothic" pitchFamily="34" charset="0"/>
                          <a:ea typeface="Yu Gothic" pitchFamily="34" charset="-122"/>
                          <a:cs typeface="Yu Gothic" pitchFamily="34" charset="-120"/>
                        </a:rPr>
                        <a:t>● </a:t>
                      </a:r>
                      <a:pPr indent="0" marL="0">
                        <a:buNone/>
                      </a:pPr>
                      <a:r>
                        <a:rPr lang="en-US" sz="1100" b="1" dirty="0">
                          <a:solidFill>
                            <a:srgbClr val="2C7A50"/>
                          </a:solidFill>
                          <a:latin typeface="Yu Gothic" pitchFamily="34" charset="0"/>
                          <a:ea typeface="Yu Gothic" pitchFamily="34" charset="-122"/>
                          <a:cs typeface="Yu Gothic" pitchFamily="34" charset="-120"/>
                        </a:rPr>
                        <a:t>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Linux と同一（bubblewrap）。Windows で隔離を得る唯一の手段</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56692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WSL1</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100" b="1" dirty="0">
                          <a:solidFill>
                            <a:srgbClr val="7B8792"/>
                          </a:solidFill>
                          <a:latin typeface="Yu Gothic" pitchFamily="34" charset="0"/>
                          <a:ea typeface="Yu Gothic" pitchFamily="34" charset="-122"/>
                          <a:cs typeface="Yu Gothic" pitchFamily="34" charset="-120"/>
                        </a:rPr>
                        <a:t>○ </a:t>
                      </a:r>
                      <a:pPr indent="0" marL="0">
                        <a:buNone/>
                      </a:pPr>
                      <a:r>
                        <a:rPr lang="en-US" sz="1100" b="1" dirty="0">
                          <a:solidFill>
                            <a:srgbClr val="7B8792"/>
                          </a:solidFill>
                          <a:latin typeface="Yu Gothic" pitchFamily="34" charset="0"/>
                          <a:ea typeface="Yu Gothic" pitchFamily="34" charset="-122"/>
                          <a:cs typeface="Yu Gothic" pitchFamily="34" charset="-120"/>
                        </a:rPr>
                        <a:t>実質対象外   </a:t>
                      </a:r>
                      <a:endParaRPr lang="en-US" sz="1050" dirty="0">
                        <a:latin typeface="Yu Gothic" charset="0"/>
                        <a:ea typeface="Yu Gothic" charset="0"/>
                        <a:cs typeface="Yu Gothic" charset="0"/>
                      </a:endParaRPr>
                    </a:p>
                    <a:p>
                      <a:pPr indent="0" marL="0">
                        <a:buNone/>
                      </a:pP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100" b="1" dirty="0">
                          <a:solidFill>
                            <a:srgbClr val="AE3B33"/>
                          </a:solidFill>
                          <a:latin typeface="Yu Gothic" pitchFamily="34" charset="0"/>
                          <a:ea typeface="Yu Gothic" pitchFamily="34" charset="-122"/>
                          <a:cs typeface="Yu Gothic" pitchFamily="34" charset="-120"/>
                        </a:rPr>
                        <a:t>✕ </a:t>
                      </a:r>
                      <a:pPr indent="0" marL="0">
                        <a:buNone/>
                      </a:pPr>
                      <a:r>
                        <a:rPr lang="en-US" sz="1100" b="1" dirty="0">
                          <a:solidFill>
                            <a:srgbClr val="AE3B33"/>
                          </a:solidFill>
                          <a:latin typeface="Yu Gothic" pitchFamily="34" charset="0"/>
                          <a:ea typeface="Yu Gothic" pitchFamily="34" charset="-122"/>
                          <a:cs typeface="Yu Gothic" pitchFamily="34" charset="-120"/>
                        </a:rPr>
                        <a:t>非対応   </a:t>
                      </a:r>
                      <a:endParaRPr lang="en-US" sz="1050" dirty="0">
                        <a:latin typeface="Yu Gothic" charset="0"/>
                        <a:ea typeface="Yu Gothic" charset="0"/>
                        <a:cs typeface="Yu Gothic" charset="0"/>
                      </a:endParaRPr>
                    </a:p>
                    <a:p>
                      <a:pPr indent="0" marL="0">
                        <a:buNone/>
                      </a:pPr>
                      <a:r>
                        <a:rPr lang="en-US" sz="950" dirty="0">
                          <a:solidFill>
                            <a:srgbClr val="4C5762"/>
                          </a:solidFill>
                          <a:latin typeface="Yu Gothic" pitchFamily="34" charset="0"/>
                          <a:ea typeface="Yu Gothic" pitchFamily="34" charset="-122"/>
                          <a:cs typeface="Yu Gothic" pitchFamily="34" charset="-120"/>
                        </a:rPr>
                        <a:t>bubblewrap が要求するカーネル機能が WSL1 に無いため</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bl>
          </a:graphicData>
        </a:graphic>
      </p:graphicFrame>
      <p:sp>
        <p:nvSpPr>
          <p:cNvPr id="8" name="Text 5"/>
          <p:cNvSpPr txBox="1"/>
          <p:nvPr/>
        </p:nvSpPr>
        <p:spPr>
          <a:xfrm>
            <a:off x="566928" y="5230368"/>
            <a:ext cx="1554480" cy="219456"/>
          </a:xfrm>
          <a:prstGeom prst="rect">
            <a:avLst/>
          </a:prstGeom>
          <a:noFill/>
          <a:ln/>
        </p:spPr>
        <p:txBody>
          <a:bodyPr wrap="square" lIns="0" tIns="0" rIns="0" bIns="0" rtlCol="0" anchor="ctr"/>
          <a:lstStyle/>
          <a:p>
            <a:pPr indent="0" marL="0">
              <a:buNone/>
            </a:pPr>
            <a:r>
              <a:rPr lang="en-US" sz="1000" b="1" dirty="0">
                <a:solidFill>
                  <a:srgbClr val="2C7A50"/>
                </a:solidFill>
                <a:latin typeface="Yu Gothic" pitchFamily="34" charset="0"/>
                <a:ea typeface="Yu Gothic" pitchFamily="34" charset="-122"/>
                <a:cs typeface="Yu Gothic" pitchFamily="34" charset="-120"/>
              </a:rPr>
              <a:t>● </a:t>
            </a:r>
            <a:pPr indent="0" marL="0">
              <a:buNone/>
            </a:pPr>
            <a:r>
              <a:rPr lang="en-US" sz="950" dirty="0">
                <a:solidFill>
                  <a:srgbClr val="7B8792"/>
                </a:solidFill>
                <a:latin typeface="Yu Gothic" pitchFamily="34" charset="0"/>
                <a:ea typeface="Yu Gothic" pitchFamily="34" charset="-122"/>
                <a:cs typeface="Yu Gothic" pitchFamily="34" charset="-120"/>
              </a:rPr>
              <a:t>対応</a:t>
            </a:r>
            <a:endParaRPr lang="en-US" sz="1000" dirty="0"/>
          </a:p>
        </p:txBody>
      </p:sp>
      <p:sp>
        <p:nvSpPr>
          <p:cNvPr id="9" name="Text 6"/>
          <p:cNvSpPr txBox="1"/>
          <p:nvPr/>
        </p:nvSpPr>
        <p:spPr>
          <a:xfrm>
            <a:off x="2167128" y="5230368"/>
            <a:ext cx="1554480" cy="219456"/>
          </a:xfrm>
          <a:prstGeom prst="rect">
            <a:avLst/>
          </a:prstGeom>
          <a:noFill/>
          <a:ln/>
        </p:spPr>
        <p:txBody>
          <a:bodyPr wrap="square" lIns="0" tIns="0" rIns="0" bIns="0" rtlCol="0" anchor="ctr"/>
          <a:lstStyle/>
          <a:p>
            <a:pPr indent="0" marL="0">
              <a:buNone/>
            </a:pPr>
            <a:r>
              <a:rPr lang="en-US" sz="1000" b="1" dirty="0">
                <a:solidFill>
                  <a:srgbClr val="7B8792"/>
                </a:solidFill>
                <a:latin typeface="Yu Gothic" pitchFamily="34" charset="0"/>
                <a:ea typeface="Yu Gothic" pitchFamily="34" charset="-122"/>
                <a:cs typeface="Yu Gothic" pitchFamily="34" charset="-120"/>
              </a:rPr>
              <a:t>○ </a:t>
            </a:r>
            <a:pPr indent="0" marL="0">
              <a:buNone/>
            </a:pPr>
            <a:r>
              <a:rPr lang="en-US" sz="950" dirty="0">
                <a:solidFill>
                  <a:srgbClr val="7B8792"/>
                </a:solidFill>
                <a:latin typeface="Yu Gothic" pitchFamily="34" charset="0"/>
                <a:ea typeface="Yu Gothic" pitchFamily="34" charset="-122"/>
                <a:cs typeface="Yu Gothic" pitchFamily="34" charset="-120"/>
              </a:rPr>
              <a:t>条件付き / 対象外</a:t>
            </a:r>
            <a:endParaRPr lang="en-US" sz="1000" dirty="0"/>
          </a:p>
        </p:txBody>
      </p:sp>
      <p:sp>
        <p:nvSpPr>
          <p:cNvPr id="10" name="Text 7"/>
          <p:cNvSpPr txBox="1"/>
          <p:nvPr/>
        </p:nvSpPr>
        <p:spPr>
          <a:xfrm>
            <a:off x="3767328" y="5230368"/>
            <a:ext cx="1554480" cy="219456"/>
          </a:xfrm>
          <a:prstGeom prst="rect">
            <a:avLst/>
          </a:prstGeom>
          <a:noFill/>
          <a:ln/>
        </p:spPr>
        <p:txBody>
          <a:bodyPr wrap="square" lIns="0" tIns="0" rIns="0" bIns="0" rtlCol="0" anchor="ctr"/>
          <a:lstStyle/>
          <a:p>
            <a:pPr indent="0" marL="0">
              <a:buNone/>
            </a:pPr>
            <a:r>
              <a:rPr lang="en-US" sz="1000" b="1" dirty="0">
                <a:solidFill>
                  <a:srgbClr val="AE3B33"/>
                </a:solidFill>
                <a:latin typeface="Yu Gothic" pitchFamily="34" charset="0"/>
                <a:ea typeface="Yu Gothic" pitchFamily="34" charset="-122"/>
                <a:cs typeface="Yu Gothic" pitchFamily="34" charset="-120"/>
              </a:rPr>
              <a:t>✕ </a:t>
            </a:r>
            <a:pPr indent="0" marL="0">
              <a:buNone/>
            </a:pPr>
            <a:r>
              <a:rPr lang="en-US" sz="950" dirty="0">
                <a:solidFill>
                  <a:srgbClr val="7B8792"/>
                </a:solidFill>
                <a:latin typeface="Yu Gothic" pitchFamily="34" charset="0"/>
                <a:ea typeface="Yu Gothic" pitchFamily="34" charset="-122"/>
                <a:cs typeface="Yu Gothic" pitchFamily="34" charset="-120"/>
              </a:rPr>
              <a:t>非対応</a:t>
            </a:r>
            <a:endParaRPr lang="en-US" sz="1000" dirty="0"/>
          </a:p>
        </p:txBody>
      </p:sp>
      <p:sp>
        <p:nvSpPr>
          <p:cNvPr id="11" name="Shape 8"/>
          <p:cNvSpPr/>
          <p:nvPr/>
        </p:nvSpPr>
        <p:spPr>
          <a:xfrm>
            <a:off x="566928" y="5486400"/>
            <a:ext cx="11057839" cy="749808"/>
          </a:xfrm>
          <a:prstGeom prst="rect">
            <a:avLst/>
          </a:prstGeom>
          <a:solidFill>
            <a:srgbClr val="FBF1F0"/>
          </a:solidFill>
          <a:ln w="12700">
            <a:solidFill>
              <a:srgbClr val="AE3B33"/>
            </a:solidFill>
            <a:prstDash val="solid"/>
          </a:ln>
        </p:spPr>
      </p:sp>
      <p:sp>
        <p:nvSpPr>
          <p:cNvPr id="12" name="Text 9"/>
          <p:cNvSpPr txBox="1"/>
          <p:nvPr/>
        </p:nvSpPr>
        <p:spPr>
          <a:xfrm>
            <a:off x="804672" y="5559552"/>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この表の読み方：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両者とも macOS・Linux では OS 標準の隔離機構を使っており、差はほとんどありません。</a:t>
            </a:r>
            <a:pPr indent="0" marL="0">
              <a:lnSpc>
                <a:spcPct val="130000"/>
              </a:lnSpc>
              <a:buNone/>
            </a:pPr>
            <a:r>
              <a:rPr lang="en-US" sz="1050" b="1" dirty="0">
                <a:solidFill>
                  <a:srgbClr val="AE3B33"/>
                </a:solidFill>
                <a:latin typeface="Yu Gothic" pitchFamily="34" charset="0"/>
                <a:ea typeface="Yu Gothic" pitchFamily="34" charset="-122"/>
                <a:cs typeface="Yu Gothic" pitchFamily="34" charset="-120"/>
              </a:rPr>
              <a:t>分岐するのはネイティブ Windows の 1 行だけ</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です。Codex は Windows 用の隔離機構を自前で実装したのに対し、Claude Code は実装せず「WSL2 を使ってください」という設計判断をしています。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実装の内訳 — CODEX</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Codex は OS ごとに別々の隔離機構を実装している</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CODEX SANDBOX INTERNALS</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06 / 17</a:t>
            </a:r>
            <a:endParaRPr lang="en-US" sz="900" dirty="0"/>
          </a:p>
        </p:txBody>
      </p:sp>
      <p:sp>
        <p:nvSpPr>
          <p:cNvPr id="7" name="Shape 5"/>
          <p:cNvSpPr/>
          <p:nvPr/>
        </p:nvSpPr>
        <p:spPr>
          <a:xfrm>
            <a:off x="566928" y="1371600"/>
            <a:ext cx="3564026" cy="2697480"/>
          </a:xfrm>
          <a:prstGeom prst="rect">
            <a:avLst/>
          </a:prstGeom>
          <a:solidFill>
            <a:srgbClr val="F2F5F7"/>
          </a:solidFill>
          <a:ln w="9525">
            <a:solidFill>
              <a:srgbClr val="D4DAE0"/>
            </a:solidFill>
            <a:prstDash val="solid"/>
          </a:ln>
        </p:spPr>
      </p:sp>
      <p:sp>
        <p:nvSpPr>
          <p:cNvPr id="8" name="Text 6"/>
          <p:cNvSpPr txBox="1"/>
          <p:nvPr/>
        </p:nvSpPr>
        <p:spPr>
          <a:xfrm>
            <a:off x="768096" y="1517904"/>
            <a:ext cx="3161690" cy="237744"/>
          </a:xfrm>
          <a:prstGeom prst="rect">
            <a:avLst/>
          </a:prstGeom>
          <a:noFill/>
          <a:ln/>
        </p:spPr>
        <p:txBody>
          <a:bodyPr wrap="square" lIns="0" tIns="0" rIns="0" bIns="0" rtlCol="0" anchor="ctr"/>
          <a:lstStyle/>
          <a:p>
            <a:pPr indent="0" marL="0">
              <a:buNone/>
            </a:pPr>
            <a:r>
              <a:rPr lang="en-US" sz="950" b="1" spc="120" kern="0" dirty="0">
                <a:solidFill>
                  <a:srgbClr val="0B5E78"/>
                </a:solidFill>
                <a:latin typeface="Courier New" pitchFamily="34" charset="0"/>
                <a:ea typeface="Courier New" pitchFamily="34" charset="-122"/>
                <a:cs typeface="Courier New" pitchFamily="34" charset="-120"/>
              </a:rPr>
              <a:t>macOS — SEATBELT</a:t>
            </a:r>
            <a:endParaRPr lang="en-US" sz="950" dirty="0"/>
          </a:p>
        </p:txBody>
      </p:sp>
      <p:sp>
        <p:nvSpPr>
          <p:cNvPr id="9" name="Text 7"/>
          <p:cNvSpPr txBox="1"/>
          <p:nvPr/>
        </p:nvSpPr>
        <p:spPr>
          <a:xfrm>
            <a:off x="768096" y="1828800"/>
            <a:ext cx="3161690" cy="207568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Apple Seatbelt を /usr/bin/sandbox-exec 経由で使用。PATH ではなく絶対パスで呼ぶことでパス乗っ取りに耐性を持たせている</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.sbpl ポリシーをバイナリに埋め込み（基本ポリシーとネットワークポリシーを分離）</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ネットワークはループバックと検出したプロキシポートに縮退</a:t>
            </a:r>
            <a:endParaRPr lang="en-US" sz="1050" dirty="0"/>
          </a:p>
        </p:txBody>
      </p:sp>
      <p:sp>
        <p:nvSpPr>
          <p:cNvPr id="10" name="Shape 8"/>
          <p:cNvSpPr/>
          <p:nvPr/>
        </p:nvSpPr>
        <p:spPr>
          <a:xfrm>
            <a:off x="4313834" y="1371600"/>
            <a:ext cx="3564026" cy="2697480"/>
          </a:xfrm>
          <a:prstGeom prst="rect">
            <a:avLst/>
          </a:prstGeom>
          <a:solidFill>
            <a:srgbClr val="F2F5F7"/>
          </a:solidFill>
          <a:ln w="9525">
            <a:solidFill>
              <a:srgbClr val="D4DAE0"/>
            </a:solidFill>
            <a:prstDash val="solid"/>
          </a:ln>
        </p:spPr>
      </p:sp>
      <p:sp>
        <p:nvSpPr>
          <p:cNvPr id="11" name="Text 9"/>
          <p:cNvSpPr txBox="1"/>
          <p:nvPr/>
        </p:nvSpPr>
        <p:spPr>
          <a:xfrm>
            <a:off x="4515002" y="1517904"/>
            <a:ext cx="3161690" cy="237744"/>
          </a:xfrm>
          <a:prstGeom prst="rect">
            <a:avLst/>
          </a:prstGeom>
          <a:noFill/>
          <a:ln/>
        </p:spPr>
        <p:txBody>
          <a:bodyPr wrap="square" lIns="0" tIns="0" rIns="0" bIns="0" rtlCol="0" anchor="ctr"/>
          <a:lstStyle/>
          <a:p>
            <a:pPr indent="0" marL="0">
              <a:buNone/>
            </a:pPr>
            <a:r>
              <a:rPr lang="en-US" sz="950" b="1" spc="120" kern="0" dirty="0">
                <a:solidFill>
                  <a:srgbClr val="0B5E78"/>
                </a:solidFill>
                <a:latin typeface="Courier New" pitchFamily="34" charset="0"/>
                <a:ea typeface="Courier New" pitchFamily="34" charset="-122"/>
                <a:cs typeface="Courier New" pitchFamily="34" charset="-120"/>
              </a:rPr>
              <a:t>LINUX — LANDLOCK</a:t>
            </a:r>
            <a:endParaRPr lang="en-US" sz="950" dirty="0"/>
          </a:p>
        </p:txBody>
      </p:sp>
      <p:sp>
        <p:nvSpPr>
          <p:cNvPr id="12" name="Text 10"/>
          <p:cNvSpPr txBox="1"/>
          <p:nvPr/>
        </p:nvSpPr>
        <p:spPr>
          <a:xfrm>
            <a:off x="4515002" y="1828800"/>
            <a:ext cx="3161690" cy="207568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Landlock（カーネル 5.13+）でファイルシステム、seccomp でシステムコールを制限。root 権限は不要</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読み取りは広く許可、書き込みは許可ディレクトリと /dev/null に限定するのが既定の考え方</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bubblewrap 経路も実装されており、環境に応じて選択される</a:t>
            </a:r>
            <a:endParaRPr lang="en-US" sz="1050" dirty="0"/>
          </a:p>
        </p:txBody>
      </p:sp>
      <p:sp>
        <p:nvSpPr>
          <p:cNvPr id="13" name="Shape 11"/>
          <p:cNvSpPr/>
          <p:nvPr/>
        </p:nvSpPr>
        <p:spPr>
          <a:xfrm>
            <a:off x="8060741" y="1371600"/>
            <a:ext cx="3564026" cy="2697480"/>
          </a:xfrm>
          <a:prstGeom prst="rect">
            <a:avLst/>
          </a:prstGeom>
          <a:solidFill>
            <a:srgbClr val="F2F5F7"/>
          </a:solidFill>
          <a:ln w="9525">
            <a:solidFill>
              <a:srgbClr val="D4DAE0"/>
            </a:solidFill>
            <a:prstDash val="solid"/>
          </a:ln>
        </p:spPr>
      </p:sp>
      <p:sp>
        <p:nvSpPr>
          <p:cNvPr id="14" name="Text 12"/>
          <p:cNvSpPr txBox="1"/>
          <p:nvPr/>
        </p:nvSpPr>
        <p:spPr>
          <a:xfrm>
            <a:off x="8261909" y="1517904"/>
            <a:ext cx="3161690" cy="237744"/>
          </a:xfrm>
          <a:prstGeom prst="rect">
            <a:avLst/>
          </a:prstGeom>
          <a:noFill/>
          <a:ln/>
        </p:spPr>
        <p:txBody>
          <a:bodyPr wrap="square" lIns="0" tIns="0" rIns="0" bIns="0" rtlCol="0" anchor="ctr"/>
          <a:lstStyle/>
          <a:p>
            <a:pPr indent="0" marL="0">
              <a:buNone/>
            </a:pPr>
            <a:r>
              <a:rPr lang="en-US" sz="950" b="1" spc="120" kern="0" dirty="0">
                <a:solidFill>
                  <a:srgbClr val="0B5E78"/>
                </a:solidFill>
                <a:latin typeface="Courier New" pitchFamily="34" charset="0"/>
                <a:ea typeface="Courier New" pitchFamily="34" charset="-122"/>
                <a:cs typeface="Courier New" pitchFamily="34" charset="-120"/>
              </a:rPr>
              <a:t>WINDOWS — 制限付きトークン</a:t>
            </a:r>
            <a:endParaRPr lang="en-US" sz="950" dirty="0"/>
          </a:p>
        </p:txBody>
      </p:sp>
      <p:sp>
        <p:nvSpPr>
          <p:cNvPr id="15" name="Text 13"/>
          <p:cNvSpPr txBox="1"/>
          <p:nvPr/>
        </p:nvSpPr>
        <p:spPr>
          <a:xfrm>
            <a:off x="8261909" y="1828800"/>
            <a:ext cx="3161690" cy="207568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Seatbelt / Landlock に相当する仕組みが無いため、Windows 独自の実装を用意している</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合成 SID と write-restricted token、ACL によるファイル境界が中核</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モードにより強度が変わる（次スライド）</a:t>
            </a:r>
            <a:endParaRPr lang="en-US" sz="1050" dirty="0"/>
          </a:p>
        </p:txBody>
      </p:sp>
      <p:sp>
        <p:nvSpPr>
          <p:cNvPr id="16" name="Shape 14"/>
          <p:cNvSpPr/>
          <p:nvPr/>
        </p:nvSpPr>
        <p:spPr>
          <a:xfrm>
            <a:off x="566928" y="4261104"/>
            <a:ext cx="11057839" cy="749808"/>
          </a:xfrm>
          <a:prstGeom prst="rect">
            <a:avLst/>
          </a:prstGeom>
          <a:solidFill>
            <a:srgbClr val="F2F5F7"/>
          </a:solidFill>
          <a:ln w="9525">
            <a:solidFill>
              <a:srgbClr val="D4DAE0"/>
            </a:solidFill>
            <a:prstDash val="solid"/>
          </a:ln>
        </p:spPr>
      </p:sp>
      <p:sp>
        <p:nvSpPr>
          <p:cNvPr id="17" name="Text 15"/>
          <p:cNvSpPr txBox="1"/>
          <p:nvPr/>
        </p:nvSpPr>
        <p:spPr>
          <a:xfrm>
            <a:off x="804672" y="4334256"/>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設計思想の違い：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Codex は 3 つの OS すべてに隔離実装を用意し、サンドボックスを既定で有効にする方針を採っています。対する Claude Code は /sandbox でモードと境界を設定する方式で、隔離が成立するのは macOS・Linux・WSL2 に限られます。「どの OS でも同じ強度を出す」か「OS が提供する機構がある環境に絞る」か、という方針の差として捉えると理解しやすくなります。</a:t>
            </a:r>
            <a:endParaRPr lang="en-US" sz="1050" dirty="0"/>
          </a:p>
        </p:txBody>
      </p:sp>
      <p:sp>
        <p:nvSpPr>
          <p:cNvPr id="18" name="Shape 16"/>
          <p:cNvSpPr/>
          <p:nvPr/>
        </p:nvSpPr>
        <p:spPr>
          <a:xfrm>
            <a:off x="566928" y="5138928"/>
            <a:ext cx="438912" cy="201168"/>
          </a:xfrm>
          <a:prstGeom prst="roundRect">
            <a:avLst>
              <a:gd name="adj" fmla="val 13636"/>
            </a:avLst>
          </a:prstGeom>
          <a:solidFill>
            <a:srgbClr val="FFFFFF">
              <a:alpha val="0"/>
            </a:srgbClr>
          </a:solidFill>
          <a:ln w="9525">
            <a:solidFill>
              <a:srgbClr val="7B8792"/>
            </a:solidFill>
            <a:prstDash val="dash"/>
          </a:ln>
        </p:spPr>
      </p:sp>
      <p:sp>
        <p:nvSpPr>
          <p:cNvPr id="19" name="Text 17"/>
          <p:cNvSpPr txBox="1"/>
          <p:nvPr/>
        </p:nvSpPr>
        <p:spPr>
          <a:xfrm>
            <a:off x="566928" y="5138928"/>
            <a:ext cx="438912" cy="201168"/>
          </a:xfrm>
          <a:prstGeom prst="rect">
            <a:avLst/>
          </a:prstGeom>
          <a:noFill/>
          <a:ln/>
        </p:spPr>
        <p:txBody>
          <a:bodyPr wrap="square" lIns="0" tIns="0" rIns="0" bIns="0" rtlCol="0" anchor="ctr"/>
          <a:lstStyle/>
          <a:p>
            <a:pPr algn="ctr" indent="0" marL="0">
              <a:buNone/>
            </a:pPr>
            <a:r>
              <a:rPr lang="en-US" sz="800" b="1" dirty="0">
                <a:solidFill>
                  <a:srgbClr val="7B8792"/>
                </a:solidFill>
                <a:latin typeface="Courier New" pitchFamily="34" charset="0"/>
                <a:ea typeface="Courier New" pitchFamily="34" charset="-122"/>
                <a:cs typeface="Courier New" pitchFamily="34" charset="-120"/>
              </a:rPr>
              <a:t>二次情報</a:t>
            </a:r>
            <a:endParaRPr lang="en-US" sz="800" dirty="0"/>
          </a:p>
        </p:txBody>
      </p:sp>
      <p:sp>
        <p:nvSpPr>
          <p:cNvPr id="20" name="Text 18"/>
          <p:cNvSpPr txBox="1"/>
          <p:nvPr/>
        </p:nvSpPr>
        <p:spPr>
          <a:xfrm>
            <a:off x="566928" y="5440680"/>
            <a:ext cx="11057839" cy="365760"/>
          </a:xfrm>
          <a:prstGeom prst="rect">
            <a:avLst/>
          </a:prstGeom>
          <a:noFill/>
          <a:ln/>
        </p:spPr>
        <p:txBody>
          <a:bodyPr wrap="square" lIns="0" tIns="0" rIns="0" bIns="0" rtlCol="0" anchor="t"/>
          <a:lstStyle/>
          <a:p>
            <a:pPr indent="0" marL="0">
              <a:lnSpc>
                <a:spcPct val="125000"/>
              </a:lnSpc>
              <a:buNone/>
            </a:pPr>
            <a:r>
              <a:rPr lang="en-US" sz="900" b="1" dirty="0">
                <a:solidFill>
                  <a:srgbClr val="4C5762"/>
                </a:solidFill>
                <a:latin typeface="Yu Gothic" pitchFamily="34" charset="0"/>
                <a:ea typeface="Yu Gothic" pitchFamily="34" charset="-122"/>
                <a:cs typeface="Yu Gothic" pitchFamily="34" charset="-120"/>
              </a:rPr>
              <a:t>確認方法： </a:t>
            </a:r>
            <a:pPr indent="0" marL="0">
              <a:lnSpc>
                <a:spcPct val="125000"/>
              </a:lnSpc>
              <a:buNone/>
            </a:pPr>
            <a:r>
              <a:rPr lang="en-US" sz="900" dirty="0">
                <a:solidFill>
                  <a:srgbClr val="7B8792"/>
                </a:solidFill>
                <a:latin typeface="Yu Gothic" pitchFamily="34" charset="0"/>
                <a:ea typeface="Yu Gothic" pitchFamily="34" charset="-122"/>
                <a:cs typeface="Yu Gothic" pitchFamily="34" charset="-120"/>
              </a:rPr>
              <a:t>実装ファイルは openai/codex リポジトリの codex-rs/sandboxing/src/ に seatbelt.rs / landlock.rs / bwrap.rs / windows.rs として存在し、OS 別に分かれていることが確認できます。</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WINDOWS 深掘り — CODEX</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elevated と unelevated：同じ Windows でも隔離の強さが違う</a:t>
            </a:r>
            <a:endParaRPr lang="en-US" sz="2600" dirty="0"/>
          </a:p>
        </p:txBody>
      </p:sp>
      <p:sp>
        <p:nvSpPr>
          <p:cNvPr id="4" name="Text 2"/>
          <p:cNvSpPr txBox="1"/>
          <p:nvPr/>
        </p:nvSpPr>
        <p:spPr>
          <a:xfrm>
            <a:off x="566928" y="1216152"/>
            <a:ext cx="11057839" cy="384048"/>
          </a:xfrm>
          <a:prstGeom prst="rect">
            <a:avLst/>
          </a:prstGeom>
          <a:noFill/>
          <a:ln/>
        </p:spPr>
        <p:txBody>
          <a:bodyPr wrap="square" lIns="0" tIns="0" rIns="0" bIns="0" rtlCol="0" anchor="t"/>
          <a:lstStyle/>
          <a:p>
            <a:pPr indent="0" marL="0">
              <a:lnSpc>
                <a:spcPct val="130000"/>
              </a:lnSpc>
              <a:buNone/>
            </a:pPr>
            <a:r>
              <a:rPr lang="en-US" sz="1200" dirty="0">
                <a:solidFill>
                  <a:srgbClr val="4C5762"/>
                </a:solidFill>
                <a:latin typeface="Yu Gothic" pitchFamily="34" charset="0"/>
                <a:ea typeface="Yu Gothic" pitchFamily="34" charset="-122"/>
                <a:cs typeface="Yu Gothic" pitchFamily="34" charset="-120"/>
              </a:rPr>
              <a:t>Codex の Windows サンドボックスは 2 モードあり、管理者権限の有無で選べる強度が変わります。ここは Windows 版だけに存在する意思決定ポイントです。</a:t>
            </a:r>
            <a:endParaRPr lang="en-US" sz="1200" dirty="0"/>
          </a:p>
        </p:txBody>
      </p:sp>
      <p:sp>
        <p:nvSpPr>
          <p:cNvPr id="5" name="Shape 3"/>
          <p:cNvSpPr/>
          <p:nvPr/>
        </p:nvSpPr>
        <p:spPr>
          <a:xfrm>
            <a:off x="566928" y="6327648"/>
            <a:ext cx="11057839" cy="0"/>
          </a:xfrm>
          <a:prstGeom prst="line">
            <a:avLst/>
          </a:prstGeom>
          <a:noFill/>
          <a:ln w="9525">
            <a:solidFill>
              <a:srgbClr val="D4DAE0"/>
            </a:solidFill>
            <a:prstDash val="solid"/>
          </a:ln>
        </p:spPr>
      </p:sp>
      <p:sp>
        <p:nvSpPr>
          <p:cNvPr id="6" name="Text 4"/>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CODEX ON WINDOWS</a:t>
            </a:r>
            <a:endParaRPr lang="en-US" sz="900" dirty="0"/>
          </a:p>
        </p:txBody>
      </p:sp>
      <p:sp>
        <p:nvSpPr>
          <p:cNvPr id="7" name="Text 5"/>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07 / 17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7839" cy="914400"/>
        </p:xfrm>
        <a:graphic>
          <a:graphicData uri="http://schemas.openxmlformats.org/drawingml/2006/table">
            <a:tbl>
              <a:tblPr/>
              <a:tblGrid>
                <a:gridCol w="2194560"/>
                <a:gridCol w="4434840"/>
                <a:gridCol w="4425696"/>
              </a:tblGrid>
              <a:tr h="329184">
                <a:tc>
                  <a:txBody>
                    <a:bodyPr/>
                    <a:lstStyle/>
                    <a:p>
                      <a:pPr indent="0" marL="0">
                        <a:buNone/>
                      </a:pPr>
                      <a:r>
                        <a:rPr lang="en-US" sz="950" b="1" dirty="0">
                          <a:solidFill>
                            <a:srgbClr val="7B8792"/>
                          </a:solidFill>
                          <a:latin typeface="Yu Gothic" pitchFamily="34" charset="0"/>
                          <a:ea typeface="Yu Gothic" pitchFamily="34" charset="-122"/>
                          <a:cs typeface="Yu Gothic" pitchFamily="34" charset="-120"/>
                        </a:rPr>
                        <a:t>観点</a:t>
                      </a:r>
                      <a:endParaRPr lang="en-US" sz="950" dirty="0">
                        <a:latin typeface="Yu Gothic" charset="0"/>
                        <a:ea typeface="Yu Gothic" charset="0"/>
                        <a:cs typeface="Yu Gothic"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1000" b="1" dirty="0">
                          <a:solidFill>
                            <a:srgbClr val="0B5E78"/>
                          </a:solidFill>
                          <a:latin typeface="Courier New" pitchFamily="34" charset="0"/>
                          <a:ea typeface="Courier New" pitchFamily="34" charset="-122"/>
                          <a:cs typeface="Courier New" pitchFamily="34" charset="-120"/>
                        </a:rPr>
                        <a:t>elevated（推奨）</a:t>
                      </a:r>
                      <a:endParaRPr lang="en-US" sz="100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1000" b="1" dirty="0">
                          <a:solidFill>
                            <a:srgbClr val="4C5762"/>
                          </a:solidFill>
                          <a:latin typeface="Courier New" pitchFamily="34" charset="0"/>
                          <a:ea typeface="Courier New" pitchFamily="34" charset="-122"/>
                          <a:cs typeface="Courier New" pitchFamily="34" charset="-120"/>
                        </a:rPr>
                        <a:t>unelevated（フォールバック）</a:t>
                      </a:r>
                      <a:endParaRPr lang="en-US" sz="100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r>
              <a:tr h="65836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実行主体</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専用のローカル Windows ユーザーを作成し、その権限で実行</a:t>
                      </a:r>
                      <a:endParaRPr lang="en-US" sz="1050" dirty="0">
                        <a:latin typeface="Yu Gothic" charset="0"/>
                        <a:ea typeface="Yu Gothic" charset="0"/>
                        <a:cs typeface="Yu Gothic" charset="0"/>
                      </a:endParaRPr>
                    </a:p>
                    <a:p>
                      <a:pPr indent="0" marL="0">
                        <a:buNone/>
                      </a:pPr>
                      <a:r>
                        <a:rPr lang="en-US" sz="900" dirty="0">
                          <a:solidFill>
                            <a:srgbClr val="7B8792"/>
                          </a:solidFill>
                          <a:latin typeface="Courier New" pitchFamily="34" charset="0"/>
                          <a:ea typeface="Courier New" pitchFamily="34" charset="-122"/>
                          <a:cs typeface="Courier New" pitchFamily="34" charset="-120"/>
                        </a:rPr>
                        <a:t>CodexSandboxOffline / CodexSandboxOnline</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現在ログイン中のユーザーのまま、制限付きトークンで実行</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r h="51206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ファイル境界</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ACL ＋ 専用ユーザーによる二重の境界</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ACL ベースの境界のみ（専用ユーザーの境界は無い）</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r h="822960">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ネットワーク隔離</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b="1" dirty="0">
                          <a:solidFill>
                            <a:srgbClr val="2C7A50"/>
                          </a:solidFill>
                          <a:latin typeface="Yu Gothic" pitchFamily="34" charset="0"/>
                          <a:ea typeface="Yu Gothic" pitchFamily="34" charset="-122"/>
                          <a:cs typeface="Yu Gothic" pitchFamily="34" charset="-120"/>
                        </a:rPr>
                        <a:t>● OS 強制</a:t>
                      </a:r>
                      <a:endParaRPr lang="en-US" sz="1050" dirty="0">
                        <a:latin typeface="Yu Gothic" charset="0"/>
                        <a:ea typeface="Yu Gothic" charset="0"/>
                        <a:cs typeface="Yu Gothic" charset="0"/>
                      </a:endParaRPr>
                    </a:p>
                    <a:p>
                      <a:pPr indent="0" marL="0">
                        <a:buNone/>
                      </a:pPr>
                      <a:r>
                        <a:rPr lang="en-US" sz="1050" dirty="0">
                          <a:solidFill>
                            <a:srgbClr val="4C5762"/>
                          </a:solidFill>
                          <a:latin typeface="Yu Gothic" pitchFamily="34" charset="0"/>
                          <a:ea typeface="Yu Gothic" pitchFamily="34" charset="-122"/>
                          <a:cs typeface="Yu Gothic" pitchFamily="34" charset="-120"/>
                        </a:rPr>
                        <a:t>Windows ファイアウォールで送信を deny。ネットワークが必要なコマンドだけ deny 規則の無いユーザーで実行</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c>
                  <a:txBody>
                    <a:bodyPr/>
                    <a:lstStyle/>
                    <a:p>
                      <a:pPr indent="0" marL="0">
                        <a:buNone/>
                      </a:pPr>
                      <a:r>
                        <a:rPr lang="en-US" sz="1050" b="1" dirty="0">
                          <a:solidFill>
                            <a:srgbClr val="AE3B33"/>
                          </a:solidFill>
                          <a:latin typeface="Yu Gothic" pitchFamily="34" charset="0"/>
                          <a:ea typeface="Yu Gothic" pitchFamily="34" charset="-122"/>
                          <a:cs typeface="Yu Gothic" pitchFamily="34" charset="-120"/>
                        </a:rPr>
                        <a:t>○ 弱い</a:t>
                      </a:r>
                      <a:endParaRPr lang="en-US" sz="1050" dirty="0">
                        <a:latin typeface="Yu Gothic" charset="0"/>
                        <a:ea typeface="Yu Gothic" charset="0"/>
                        <a:cs typeface="Yu Gothic" charset="0"/>
                      </a:endParaRPr>
                    </a:p>
                    <a:p>
                      <a:pPr indent="0" marL="0">
                        <a:buNone/>
                      </a:pPr>
                      <a:r>
                        <a:rPr lang="en-US" sz="1050" dirty="0">
                          <a:solidFill>
                            <a:srgbClr val="4C5762"/>
                          </a:solidFill>
                          <a:latin typeface="Yu Gothic" pitchFamily="34" charset="0"/>
                          <a:ea typeface="Yu Gothic" pitchFamily="34" charset="-122"/>
                          <a:cs typeface="Yu Gothic" pitchFamily="34" charset="-120"/>
                        </a:rPr>
                        <a:t>ファイアウォール規則を持たず、環境レベルのオフライン制御に依存</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r h="56692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管理者権限</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初期セットアップに必要</a:t>
                      </a:r>
                      <a:pPr indent="0" marL="0">
                        <a:buNone/>
                      </a:pPr>
                      <a:r>
                        <a:rPr lang="en-US" sz="1050" dirty="0">
                          <a:solidFill>
                            <a:srgbClr val="4C5762"/>
                          </a:solidFill>
                          <a:latin typeface="Yu Gothic" pitchFamily="34" charset="0"/>
                          <a:ea typeface="Yu Gothic" pitchFamily="34" charset="-122"/>
                          <a:cs typeface="Yu Gothic" pitchFamily="34" charset="-120"/>
                        </a:rPr>
                        <a:t>（ユーザー作成・ローカルポリシー変更のため）</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不要</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r h="56692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使いどころ</a:t>
                      </a:r>
                      <a:endParaRPr lang="en-US" sz="11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既定の選択。業務端末で管理者権限が取れる場合</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管理者権限が無い／elevated のセットアップが失敗する場合</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bl>
          </a:graphicData>
        </a:graphic>
      </p:graphicFrame>
      <p:sp>
        <p:nvSpPr>
          <p:cNvPr id="9" name="Text 6"/>
          <p:cNvSpPr txBox="1"/>
          <p:nvPr/>
        </p:nvSpPr>
        <p:spPr>
          <a:xfrm>
            <a:off x="566928" y="5623560"/>
            <a:ext cx="11057839" cy="365760"/>
          </a:xfrm>
          <a:prstGeom prst="rect">
            <a:avLst/>
          </a:prstGeom>
          <a:noFill/>
          <a:ln/>
        </p:spPr>
        <p:txBody>
          <a:bodyPr wrap="square" lIns="0" tIns="0" rIns="0" bIns="0" rtlCol="0" anchor="t"/>
          <a:lstStyle/>
          <a:p>
            <a:pPr indent="0" marL="0">
              <a:lnSpc>
                <a:spcPct val="125000"/>
              </a:lnSpc>
              <a:buNone/>
            </a:pPr>
            <a:r>
              <a:rPr lang="en-US" sz="900" b="1" dirty="0">
                <a:solidFill>
                  <a:srgbClr val="4C5762"/>
                </a:solidFill>
                <a:latin typeface="Yu Gothic" pitchFamily="34" charset="0"/>
                <a:ea typeface="Yu Gothic" pitchFamily="34" charset="-122"/>
                <a:cs typeface="Yu Gothic" pitchFamily="34" charset="-120"/>
              </a:rPr>
              <a:t>出典に関する注記： </a:t>
            </a:r>
            <a:pPr indent="0" marL="0">
              <a:lnSpc>
                <a:spcPct val="125000"/>
              </a:lnSpc>
              <a:buNone/>
            </a:pPr>
            <a:r>
              <a:rPr lang="en-US" sz="900" dirty="0">
                <a:solidFill>
                  <a:srgbClr val="7B8792"/>
                </a:solidFill>
                <a:latin typeface="Yu Gothic" pitchFamily="34" charset="0"/>
                <a:ea typeface="Yu Gothic" pitchFamily="34" charset="-122"/>
                <a:cs typeface="Yu Gothic" pitchFamily="34" charset="-120"/>
              </a:rPr>
              <a:t>このスライドの内容は openai/codex の実装構成と公開技術記事に基づきます。OpenAI 公式ドキュメントは資料作成環境のネットワークポリシーにより参照できませんでした。導入前に developers.openai.com/codex/windows での確認を推奨します。</a:t>
            </a:r>
            <a:endParaRPr lang="en-US" sz="900" dirty="0"/>
          </a:p>
        </p:txBody>
      </p:sp>
      <p:sp>
        <p:nvSpPr>
          <p:cNvPr id="10" name="Shape 7"/>
          <p:cNvSpPr/>
          <p:nvPr/>
        </p:nvSpPr>
        <p:spPr>
          <a:xfrm>
            <a:off x="566928" y="6016752"/>
            <a:ext cx="438912" cy="201168"/>
          </a:xfrm>
          <a:prstGeom prst="roundRect">
            <a:avLst>
              <a:gd name="adj" fmla="val 13636"/>
            </a:avLst>
          </a:prstGeom>
          <a:solidFill>
            <a:srgbClr val="FFFFFF">
              <a:alpha val="0"/>
            </a:srgbClr>
          </a:solidFill>
          <a:ln w="9525">
            <a:solidFill>
              <a:srgbClr val="7B8792"/>
            </a:solidFill>
            <a:prstDash val="dash"/>
          </a:ln>
        </p:spPr>
      </p:sp>
      <p:sp>
        <p:nvSpPr>
          <p:cNvPr id="11" name="Text 8"/>
          <p:cNvSpPr txBox="1"/>
          <p:nvPr/>
        </p:nvSpPr>
        <p:spPr>
          <a:xfrm>
            <a:off x="566928" y="6016752"/>
            <a:ext cx="438912" cy="201168"/>
          </a:xfrm>
          <a:prstGeom prst="rect">
            <a:avLst/>
          </a:prstGeom>
          <a:noFill/>
          <a:ln/>
        </p:spPr>
        <p:txBody>
          <a:bodyPr wrap="square" lIns="0" tIns="0" rIns="0" bIns="0" rtlCol="0" anchor="ctr"/>
          <a:lstStyle/>
          <a:p>
            <a:pPr algn="ctr" indent="0" marL="0">
              <a:buNone/>
            </a:pPr>
            <a:r>
              <a:rPr lang="en-US" sz="800" b="1" dirty="0">
                <a:solidFill>
                  <a:srgbClr val="7B8792"/>
                </a:solidFill>
                <a:latin typeface="Courier New" pitchFamily="34" charset="0"/>
                <a:ea typeface="Courier New" pitchFamily="34" charset="-122"/>
                <a:cs typeface="Courier New" pitchFamily="34" charset="-120"/>
              </a:rPr>
              <a:t>二次情報</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実装の内訳 — CLAUDE CODE</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Claude Code のサンドボックスは 3 環境で成立する</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CLAUDE CODE SANDBOX INTERNALS</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08 / 17</a:t>
            </a:r>
            <a:endParaRPr lang="en-US" sz="900" dirty="0"/>
          </a:p>
        </p:txBody>
      </p:sp>
      <p:sp>
        <p:nvSpPr>
          <p:cNvPr id="7" name="Shape 5"/>
          <p:cNvSpPr/>
          <p:nvPr/>
        </p:nvSpPr>
        <p:spPr>
          <a:xfrm>
            <a:off x="566928" y="1371600"/>
            <a:ext cx="3564026" cy="3017520"/>
          </a:xfrm>
          <a:prstGeom prst="rect">
            <a:avLst/>
          </a:prstGeom>
          <a:solidFill>
            <a:srgbClr val="F2F5F7"/>
          </a:solidFill>
          <a:ln w="9525">
            <a:solidFill>
              <a:srgbClr val="D4DAE0"/>
            </a:solidFill>
            <a:prstDash val="solid"/>
          </a:ln>
        </p:spPr>
      </p:sp>
      <p:sp>
        <p:nvSpPr>
          <p:cNvPr id="8" name="Text 6"/>
          <p:cNvSpPr txBox="1"/>
          <p:nvPr/>
        </p:nvSpPr>
        <p:spPr>
          <a:xfrm>
            <a:off x="768096" y="1517904"/>
            <a:ext cx="3161690" cy="237744"/>
          </a:xfrm>
          <a:prstGeom prst="rect">
            <a:avLst/>
          </a:prstGeom>
          <a:noFill/>
          <a:ln/>
        </p:spPr>
        <p:txBody>
          <a:bodyPr wrap="square" lIns="0" tIns="0" rIns="0" bIns="0" rtlCol="0" anchor="ctr"/>
          <a:lstStyle/>
          <a:p>
            <a:pPr indent="0" marL="0">
              <a:buNone/>
            </a:pPr>
            <a:r>
              <a:rPr lang="en-US" sz="950" b="1" spc="120" kern="0" dirty="0">
                <a:solidFill>
                  <a:srgbClr val="8A6B1F"/>
                </a:solidFill>
                <a:latin typeface="Courier New" pitchFamily="34" charset="0"/>
                <a:ea typeface="Courier New" pitchFamily="34" charset="-122"/>
                <a:cs typeface="Courier New" pitchFamily="34" charset="-120"/>
              </a:rPr>
              <a:t>macOS</a:t>
            </a:r>
            <a:endParaRPr lang="en-US" sz="950" dirty="0"/>
          </a:p>
        </p:txBody>
      </p:sp>
      <p:sp>
        <p:nvSpPr>
          <p:cNvPr id="9" name="Text 7"/>
          <p:cNvSpPr txBox="1"/>
          <p:nvPr/>
        </p:nvSpPr>
        <p:spPr>
          <a:xfrm>
            <a:off x="768096" y="1828800"/>
            <a:ext cx="3161690" cy="239572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Seatbelt を使用。追加インストールは一切不要で、/sandbox コマンドから設定するだけ</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3 つのタブ（Mode / Overrides / ネットワーク許可）で承認方式と境界を設定</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依存パッケージが無いぶん、macOS が最も導入コストの低い環境</a:t>
            </a:r>
            <a:endParaRPr lang="en-US" sz="1050" dirty="0"/>
          </a:p>
        </p:txBody>
      </p:sp>
      <p:sp>
        <p:nvSpPr>
          <p:cNvPr id="10" name="Shape 8"/>
          <p:cNvSpPr/>
          <p:nvPr/>
        </p:nvSpPr>
        <p:spPr>
          <a:xfrm>
            <a:off x="4313834" y="1371600"/>
            <a:ext cx="3564026" cy="3017520"/>
          </a:xfrm>
          <a:prstGeom prst="rect">
            <a:avLst/>
          </a:prstGeom>
          <a:solidFill>
            <a:srgbClr val="F2F5F7"/>
          </a:solidFill>
          <a:ln w="9525">
            <a:solidFill>
              <a:srgbClr val="D4DAE0"/>
            </a:solidFill>
            <a:prstDash val="solid"/>
          </a:ln>
        </p:spPr>
      </p:sp>
      <p:sp>
        <p:nvSpPr>
          <p:cNvPr id="11" name="Text 9"/>
          <p:cNvSpPr txBox="1"/>
          <p:nvPr/>
        </p:nvSpPr>
        <p:spPr>
          <a:xfrm>
            <a:off x="4515002" y="1517904"/>
            <a:ext cx="3161690" cy="237744"/>
          </a:xfrm>
          <a:prstGeom prst="rect">
            <a:avLst/>
          </a:prstGeom>
          <a:noFill/>
          <a:ln/>
        </p:spPr>
        <p:txBody>
          <a:bodyPr wrap="square" lIns="0" tIns="0" rIns="0" bIns="0" rtlCol="0" anchor="ctr"/>
          <a:lstStyle/>
          <a:p>
            <a:pPr indent="0" marL="0">
              <a:buNone/>
            </a:pPr>
            <a:r>
              <a:rPr lang="en-US" sz="950" b="1" spc="120" kern="0" dirty="0">
                <a:solidFill>
                  <a:srgbClr val="8A6B1F"/>
                </a:solidFill>
                <a:latin typeface="Courier New" pitchFamily="34" charset="0"/>
                <a:ea typeface="Courier New" pitchFamily="34" charset="-122"/>
                <a:cs typeface="Courier New" pitchFamily="34" charset="-120"/>
              </a:rPr>
              <a:t>LINUX / WSL2</a:t>
            </a:r>
            <a:endParaRPr lang="en-US" sz="950" dirty="0"/>
          </a:p>
        </p:txBody>
      </p:sp>
      <p:sp>
        <p:nvSpPr>
          <p:cNvPr id="12" name="Text 10"/>
          <p:cNvSpPr txBox="1"/>
          <p:nvPr/>
        </p:nvSpPr>
        <p:spPr>
          <a:xfrm>
            <a:off x="4515002" y="1828800"/>
            <a:ext cx="3161690" cy="239572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bubblewrap（ファイルシステム隔離）＋ socat（ネットワークプロキシ）の 2 パッケージが必要</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任意の seccomp フィルタ（@anthropic-ai/sandbox-runtime）で Unix ドメインソケットの遮断を追加できる</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Ubuntu 24.04 以降は AppArmor が非特権ユーザー名前空間を制限するため、bwrap 用プロファイルの追加が必要な場合がある</a:t>
            </a:r>
            <a:endParaRPr lang="en-US" sz="1050" dirty="0"/>
          </a:p>
        </p:txBody>
      </p:sp>
      <p:sp>
        <p:nvSpPr>
          <p:cNvPr id="13" name="Shape 11"/>
          <p:cNvSpPr/>
          <p:nvPr/>
        </p:nvSpPr>
        <p:spPr>
          <a:xfrm>
            <a:off x="8060741" y="1371600"/>
            <a:ext cx="3564026" cy="3017520"/>
          </a:xfrm>
          <a:prstGeom prst="rect">
            <a:avLst/>
          </a:prstGeom>
          <a:solidFill>
            <a:srgbClr val="FBF1F0"/>
          </a:solidFill>
          <a:ln w="12700">
            <a:solidFill>
              <a:srgbClr val="AE3B33"/>
            </a:solidFill>
            <a:prstDash val="solid"/>
          </a:ln>
        </p:spPr>
      </p:sp>
      <p:sp>
        <p:nvSpPr>
          <p:cNvPr id="14" name="Text 12"/>
          <p:cNvSpPr txBox="1"/>
          <p:nvPr/>
        </p:nvSpPr>
        <p:spPr>
          <a:xfrm>
            <a:off x="8261909" y="1517904"/>
            <a:ext cx="3161690" cy="237744"/>
          </a:xfrm>
          <a:prstGeom prst="rect">
            <a:avLst/>
          </a:prstGeom>
          <a:noFill/>
          <a:ln/>
        </p:spPr>
        <p:txBody>
          <a:bodyPr wrap="square" lIns="0" tIns="0" rIns="0" bIns="0" rtlCol="0" anchor="ctr"/>
          <a:lstStyle/>
          <a:p>
            <a:pPr indent="0" marL="0">
              <a:buNone/>
            </a:pPr>
            <a:r>
              <a:rPr lang="en-US" sz="950" b="1" spc="120" kern="0" dirty="0">
                <a:solidFill>
                  <a:srgbClr val="AE3B33"/>
                </a:solidFill>
                <a:latin typeface="Courier New" pitchFamily="34" charset="0"/>
                <a:ea typeface="Courier New" pitchFamily="34" charset="-122"/>
                <a:cs typeface="Courier New" pitchFamily="34" charset="-120"/>
              </a:rPr>
              <a:t>WINDOWS ネイティブ</a:t>
            </a:r>
            <a:endParaRPr lang="en-US" sz="950" dirty="0"/>
          </a:p>
        </p:txBody>
      </p:sp>
      <p:sp>
        <p:nvSpPr>
          <p:cNvPr id="15" name="Text 13"/>
          <p:cNvSpPr txBox="1"/>
          <p:nvPr/>
        </p:nvSpPr>
        <p:spPr>
          <a:xfrm>
            <a:off x="8261909" y="1847088"/>
            <a:ext cx="3161690" cy="274320"/>
          </a:xfrm>
          <a:prstGeom prst="rect">
            <a:avLst/>
          </a:prstGeom>
          <a:noFill/>
          <a:ln/>
        </p:spPr>
        <p:txBody>
          <a:bodyPr wrap="square" lIns="0" tIns="0" rIns="0" bIns="0" rtlCol="0" anchor="ctr"/>
          <a:lstStyle/>
          <a:p>
            <a:pPr indent="0" marL="0">
              <a:buNone/>
            </a:pPr>
            <a:r>
              <a:rPr lang="en-US" sz="1200" b="1" dirty="0">
                <a:solidFill>
                  <a:srgbClr val="AE3B33"/>
                </a:solidFill>
                <a:latin typeface="Yu Gothic" pitchFamily="34" charset="0"/>
                <a:ea typeface="Yu Gothic" pitchFamily="34" charset="-122"/>
                <a:cs typeface="Yu Gothic" pitchFamily="34" charset="-120"/>
              </a:rPr>
              <a:t>✕  サンドボックスは動作しない</a:t>
            </a:r>
            <a:endParaRPr lang="en-US" sz="1200" dirty="0"/>
          </a:p>
        </p:txBody>
      </p:sp>
      <p:sp>
        <p:nvSpPr>
          <p:cNvPr id="16" name="Text 14"/>
          <p:cNvSpPr txBox="1"/>
          <p:nvPr/>
        </p:nvSpPr>
        <p:spPr>
          <a:xfrm>
            <a:off x="8261909" y="2212848"/>
            <a:ext cx="3161690" cy="2084832"/>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公式ドキュメントに明記されており、PowerShell ツールの既知の制限にも「On Windows, sandboxing is not supported」とあります。</a:t>
            </a:r>
            <a:endParaRPr lang="en-US" sz="1050" dirty="0"/>
          </a:p>
          <a:p>
            <a:pPr indent="0" marL="0">
              <a:lnSpc>
                <a:spcPct val="134000"/>
              </a:lnSpc>
              <a:buNone/>
            </a:pPr>
            <a:endParaRPr lang="en-US" sz="1050" dirty="0"/>
          </a:p>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防御線は権限モード（Manual / Auto / Accept edits / Plan）と hooks のみ。</a:t>
            </a:r>
            <a:endParaRPr lang="en-US" sz="1050" dirty="0"/>
          </a:p>
          <a:p>
            <a:pPr indent="0" marL="0">
              <a:lnSpc>
                <a:spcPct val="134000"/>
              </a:lnSpc>
              <a:buNone/>
            </a:pPr>
            <a:endParaRPr lang="en-US" sz="1050" dirty="0"/>
          </a:p>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組織展開時は「Windows ホストにはサンドボックス設定を配らない、または WSL2／コンテナに寄せる」とドキュメントが明示的に案内しています。</a:t>
            </a:r>
            <a:endParaRPr lang="en-US" sz="1050" dirty="0"/>
          </a:p>
        </p:txBody>
      </p:sp>
      <p:sp>
        <p:nvSpPr>
          <p:cNvPr id="17" name="Shape 15"/>
          <p:cNvSpPr/>
          <p:nvPr/>
        </p:nvSpPr>
        <p:spPr>
          <a:xfrm>
            <a:off x="566928" y="4617720"/>
            <a:ext cx="11057839" cy="749808"/>
          </a:xfrm>
          <a:prstGeom prst="rect">
            <a:avLst/>
          </a:prstGeom>
          <a:solidFill>
            <a:srgbClr val="F2F5F7"/>
          </a:solidFill>
          <a:ln w="9525">
            <a:solidFill>
              <a:srgbClr val="D4DAE0"/>
            </a:solidFill>
            <a:prstDash val="solid"/>
          </a:ln>
        </p:spPr>
      </p:sp>
      <p:sp>
        <p:nvSpPr>
          <p:cNvPr id="18" name="Text 16"/>
          <p:cNvSpPr txBox="1"/>
          <p:nvPr/>
        </p:nvSpPr>
        <p:spPr>
          <a:xfrm>
            <a:off x="804672" y="4690872"/>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WSL1 は不可：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bubblewrap が要求するカーネル機能が WSL2 にしか無いためです。wsl -l -v でバージョンを確認し、「Sandboxing requires WSL2」と出たら WSL2 へ昇格します。</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同じ SEATBELT でも挙動が違う</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macOS 固有の落とし穴（Claude Code）</a:t>
            </a:r>
            <a:endParaRPr lang="en-US" sz="2600" dirty="0"/>
          </a:p>
        </p:txBody>
      </p:sp>
      <p:sp>
        <p:nvSpPr>
          <p:cNvPr id="4" name="Text 2"/>
          <p:cNvSpPr txBox="1"/>
          <p:nvPr/>
        </p:nvSpPr>
        <p:spPr>
          <a:xfrm>
            <a:off x="566928" y="1216152"/>
            <a:ext cx="11057839" cy="384048"/>
          </a:xfrm>
          <a:prstGeom prst="rect">
            <a:avLst/>
          </a:prstGeom>
          <a:noFill/>
          <a:ln/>
        </p:spPr>
        <p:txBody>
          <a:bodyPr wrap="square" lIns="0" tIns="0" rIns="0" bIns="0" rtlCol="0" anchor="t"/>
          <a:lstStyle/>
          <a:p>
            <a:pPr indent="0" marL="0">
              <a:lnSpc>
                <a:spcPct val="130000"/>
              </a:lnSpc>
              <a:buNone/>
            </a:pPr>
            <a:r>
              <a:rPr lang="en-US" sz="1200" dirty="0">
                <a:solidFill>
                  <a:srgbClr val="4C5762"/>
                </a:solidFill>
                <a:latin typeface="Yu Gothic" pitchFamily="34" charset="0"/>
                <a:ea typeface="Yu Gothic" pitchFamily="34" charset="-122"/>
                <a:cs typeface="Yu Gothic" pitchFamily="34" charset="-120"/>
              </a:rPr>
              <a:t>macOS はサンドボックスが「効きすぎる」方向の問題が出ます。Linux／WSL2 とは挙動が異なる点が公式に明記されています。</a:t>
            </a:r>
            <a:endParaRPr lang="en-US" sz="1200" dirty="0"/>
          </a:p>
        </p:txBody>
      </p:sp>
      <p:sp>
        <p:nvSpPr>
          <p:cNvPr id="5" name="Shape 3"/>
          <p:cNvSpPr/>
          <p:nvPr/>
        </p:nvSpPr>
        <p:spPr>
          <a:xfrm>
            <a:off x="566928" y="6327648"/>
            <a:ext cx="11057839" cy="0"/>
          </a:xfrm>
          <a:prstGeom prst="line">
            <a:avLst/>
          </a:prstGeom>
          <a:noFill/>
          <a:ln w="9525">
            <a:solidFill>
              <a:srgbClr val="D4DAE0"/>
            </a:solidFill>
            <a:prstDash val="solid"/>
          </a:ln>
        </p:spPr>
      </p:sp>
      <p:sp>
        <p:nvSpPr>
          <p:cNvPr id="6" name="Text 4"/>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macOS CAVEATS</a:t>
            </a:r>
            <a:endParaRPr lang="en-US" sz="900" dirty="0"/>
          </a:p>
        </p:txBody>
      </p:sp>
      <p:sp>
        <p:nvSpPr>
          <p:cNvPr id="7" name="Text 5"/>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09 / 17</a:t>
            </a:r>
            <a:endParaRPr lang="en-US" sz="900" dirty="0"/>
          </a:p>
        </p:txBody>
      </p:sp>
      <p:sp>
        <p:nvSpPr>
          <p:cNvPr id="8" name="Text 6"/>
          <p:cNvSpPr txBox="1"/>
          <p:nvPr/>
        </p:nvSpPr>
        <p:spPr>
          <a:xfrm>
            <a:off x="566928" y="1828800"/>
            <a:ext cx="534604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Apple Events が既定で遮断される</a:t>
            </a:r>
            <a:endParaRPr lang="en-US" sz="1150" dirty="0"/>
          </a:p>
        </p:txBody>
      </p:sp>
      <p:sp>
        <p:nvSpPr>
          <p:cNvPr id="9" name="Text 7"/>
          <p:cNvSpPr txBox="1"/>
          <p:nvPr/>
        </p:nvSpPr>
        <p:spPr>
          <a:xfrm>
            <a:off x="566928" y="2093976"/>
            <a:ext cx="5346040" cy="1051560"/>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open / osascript / ブラウザ認証フローが error -600 で失敗します。allowAppleEvents で解除できますが、サンドボックス内のコマンドが他アプリを無許可で起動できるようになるため、コード実行の隔離は失われます。プロジェクト設定からは有効化できません。</a:t>
            </a:r>
            <a:endParaRPr lang="en-US" sz="1050" dirty="0"/>
          </a:p>
        </p:txBody>
      </p:sp>
      <p:sp>
        <p:nvSpPr>
          <p:cNvPr id="10" name="Text 8"/>
          <p:cNvSpPr txBox="1"/>
          <p:nvPr/>
        </p:nvSpPr>
        <p:spPr>
          <a:xfrm>
            <a:off x="566928" y="3328416"/>
            <a:ext cx="534604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Go 製 CLI が TLS 検証に失敗する</a:t>
            </a:r>
            <a:endParaRPr lang="en-US" sz="1150" dirty="0"/>
          </a:p>
        </p:txBody>
      </p:sp>
      <p:sp>
        <p:nvSpPr>
          <p:cNvPr id="11" name="Text 9"/>
          <p:cNvSpPr txBox="1"/>
          <p:nvPr/>
        </p:nvSpPr>
        <p:spPr>
          <a:xfrm>
            <a:off x="566928" y="3593592"/>
            <a:ext cx="5346040" cy="786384"/>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gh / gcloud / terraform などが Seatbelt 下で TLS 検証に失敗することがあります。excludedCommands に列挙してサンドボックス外で実行するのが回避策です。</a:t>
            </a:r>
            <a:endParaRPr lang="en-US" sz="1050" dirty="0"/>
          </a:p>
        </p:txBody>
      </p:sp>
      <p:sp>
        <p:nvSpPr>
          <p:cNvPr id="12" name="Shape 10"/>
          <p:cNvSpPr/>
          <p:nvPr/>
        </p:nvSpPr>
        <p:spPr>
          <a:xfrm>
            <a:off x="6095848" y="1828800"/>
            <a:ext cx="0" cy="2651760"/>
          </a:xfrm>
          <a:prstGeom prst="line">
            <a:avLst/>
          </a:prstGeom>
          <a:noFill/>
          <a:ln w="9525">
            <a:solidFill>
              <a:srgbClr val="D4DAE0"/>
            </a:solidFill>
            <a:prstDash val="solid"/>
          </a:ln>
        </p:spPr>
      </p:sp>
      <p:sp>
        <p:nvSpPr>
          <p:cNvPr id="13" name="Text 11"/>
          <p:cNvSpPr txBox="1"/>
          <p:nvPr/>
        </p:nvSpPr>
        <p:spPr>
          <a:xfrm>
            <a:off x="6278728" y="1828800"/>
            <a:ext cx="516316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認証情報マスクの挙動が OS で真逆</a:t>
            </a:r>
            <a:endParaRPr lang="en-US" sz="1150" dirty="0"/>
          </a:p>
        </p:txBody>
      </p:sp>
      <p:sp>
        <p:nvSpPr>
          <p:cNvPr id="14" name="Text 12"/>
          <p:cNvSpPr txBox="1"/>
          <p:nvPr/>
        </p:nvSpPr>
        <p:spPr>
          <a:xfrm>
            <a:off x="6278728" y="2093976"/>
            <a:ext cx="5163160" cy="1417320"/>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"mode": "mask" を設定したとき —</a:t>
            </a:r>
            <a:endParaRPr lang="en-US" sz="1050" dirty="0"/>
          </a:p>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Linux / WSL2：センチネル値に置換したファイルを読ませ、送信時にプロキシが実値へ復元。ツールは動作し続ける。</a:t>
            </a:r>
            <a:endParaRPr lang="en-US" sz="1050" dirty="0"/>
          </a:p>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macOS：そのファイルの読み取り自体を拒否。deny と同じ効果になり、そのファイルで認証するツールはサンドボックス内で動かなくなる。</a:t>
            </a:r>
            <a:endParaRPr lang="en-US" sz="1050" dirty="0"/>
          </a:p>
        </p:txBody>
      </p:sp>
      <p:sp>
        <p:nvSpPr>
          <p:cNvPr id="15" name="Text 13"/>
          <p:cNvSpPr txBox="1"/>
          <p:nvPr/>
        </p:nvSpPr>
        <p:spPr>
          <a:xfrm>
            <a:off x="6278728" y="3694176"/>
            <a:ext cx="516316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--dangerously-skip-permissions の制限</a:t>
            </a:r>
            <a:endParaRPr lang="en-US" sz="1150" dirty="0"/>
          </a:p>
        </p:txBody>
      </p:sp>
      <p:sp>
        <p:nvSpPr>
          <p:cNvPr id="16" name="Text 14"/>
          <p:cNvSpPr txBox="1"/>
          <p:nvPr/>
        </p:nvSpPr>
        <p:spPr>
          <a:xfrm>
            <a:off x="6278728" y="3959352"/>
            <a:ext cx="5163160" cy="548640"/>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root / sudo 下では Linux・macOS ともに拒否されます（既知のサンドボックス内では自動的にスキップ）。</a:t>
            </a:r>
            <a:endParaRPr lang="en-US" sz="1050" dirty="0"/>
          </a:p>
        </p:txBody>
      </p:sp>
      <p:sp>
        <p:nvSpPr>
          <p:cNvPr id="17" name="Shape 15"/>
          <p:cNvSpPr/>
          <p:nvPr/>
        </p:nvSpPr>
        <p:spPr>
          <a:xfrm>
            <a:off x="566928" y="4846320"/>
            <a:ext cx="11057839" cy="749808"/>
          </a:xfrm>
          <a:prstGeom prst="rect">
            <a:avLst/>
          </a:prstGeom>
          <a:solidFill>
            <a:srgbClr val="F2F5F7"/>
          </a:solidFill>
          <a:ln w="9525">
            <a:solidFill>
              <a:srgbClr val="D4DAE0"/>
            </a:solidFill>
            <a:prstDash val="solid"/>
          </a:ln>
        </p:spPr>
      </p:sp>
      <p:sp>
        <p:nvSpPr>
          <p:cNvPr id="18" name="Text 16"/>
          <p:cNvSpPr txBox="1"/>
          <p:nvPr/>
        </p:nvSpPr>
        <p:spPr>
          <a:xfrm>
            <a:off x="804672" y="4919472"/>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読み方：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macOS は「隔離は強いが、外部ツールとの相性問題が出やすい」。Linux / WSL2 は「回避手段が用意されていて素直に動く」。同じ設定ファイルを配っても結果が変わるため、チームで OS が混在する場合は設定を OS 別に分ける必要があります。</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ネイティブ WINDOWS の実像</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Windows 固有の落とし穴（Claude Code）</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WINDOWS CAVEATS</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10 / 17</a:t>
            </a:r>
            <a:endParaRPr lang="en-US" sz="900" dirty="0"/>
          </a:p>
        </p:txBody>
      </p:sp>
      <p:sp>
        <p:nvSpPr>
          <p:cNvPr id="7" name="Text 5"/>
          <p:cNvSpPr txBox="1"/>
          <p:nvPr/>
        </p:nvSpPr>
        <p:spPr>
          <a:xfrm>
            <a:off x="566928" y="1371600"/>
            <a:ext cx="534604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サンドボックスが無い分、承認モデルが唯一の防御線</a:t>
            </a:r>
            <a:endParaRPr lang="en-US" sz="1150" dirty="0"/>
          </a:p>
        </p:txBody>
      </p:sp>
      <p:sp>
        <p:nvSpPr>
          <p:cNvPr id="8" name="Text 6"/>
          <p:cNvSpPr txBox="1"/>
          <p:nvPr/>
        </p:nvSpPr>
        <p:spPr>
          <a:xfrm>
            <a:off x="566928" y="1636776"/>
            <a:ext cx="5346040" cy="548640"/>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ファイル書き込みもネットワークも OS レベルでは止まりません。権限モードと hooks の設計が Windows では相対的に重要になります。</a:t>
            </a:r>
            <a:endParaRPr lang="en-US" sz="1050" dirty="0"/>
          </a:p>
        </p:txBody>
      </p:sp>
      <p:sp>
        <p:nvSpPr>
          <p:cNvPr id="9" name="Text 7"/>
          <p:cNvSpPr txBox="1"/>
          <p:nvPr/>
        </p:nvSpPr>
        <p:spPr>
          <a:xfrm>
            <a:off x="566928" y="2386584"/>
            <a:ext cx="534604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Git for Windows は「任意」だが実質は分岐点</a:t>
            </a:r>
            <a:endParaRPr lang="en-US" sz="1150" dirty="0"/>
          </a:p>
        </p:txBody>
      </p:sp>
      <p:sp>
        <p:nvSpPr>
          <p:cNvPr id="10" name="Text 8"/>
          <p:cNvSpPr txBox="1"/>
          <p:nvPr/>
        </p:nvSpPr>
        <p:spPr>
          <a:xfrm>
            <a:off x="566928" y="2651760"/>
            <a:ext cx="5346040" cy="804672"/>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入れると Git Bash 経由で Bash ツールが使え、入れないと PowerShell ツールになります。自動検出に失敗する場合は CLAUDE_CODE_GIT_BASH_PATH を settings.json に設定します。</a:t>
            </a:r>
            <a:endParaRPr lang="en-US" sz="1050" dirty="0"/>
          </a:p>
        </p:txBody>
      </p:sp>
      <p:sp>
        <p:nvSpPr>
          <p:cNvPr id="11" name="Text 9"/>
          <p:cNvSpPr txBox="1"/>
          <p:nvPr/>
        </p:nvSpPr>
        <p:spPr>
          <a:xfrm>
            <a:off x="566928" y="3657600"/>
            <a:ext cx="534604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メモリ上限設定は Linux / WSL 限定</a:t>
            </a:r>
            <a:endParaRPr lang="en-US" sz="1150" dirty="0"/>
          </a:p>
        </p:txBody>
      </p:sp>
      <p:sp>
        <p:nvSpPr>
          <p:cNvPr id="12" name="Text 10"/>
          <p:cNvSpPr txBox="1"/>
          <p:nvPr/>
        </p:nvSpPr>
        <p:spPr>
          <a:xfrm>
            <a:off x="566928" y="3922776"/>
            <a:ext cx="5346040" cy="548640"/>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CLAUDE_CODE_TOOL_MEMORY_LIMIT（暴走ビルドの抑止）はネイティブ Windows では使えません。</a:t>
            </a:r>
            <a:endParaRPr lang="en-US" sz="1050" dirty="0"/>
          </a:p>
        </p:txBody>
      </p:sp>
      <p:sp>
        <p:nvSpPr>
          <p:cNvPr id="13" name="Shape 11"/>
          <p:cNvSpPr/>
          <p:nvPr/>
        </p:nvSpPr>
        <p:spPr>
          <a:xfrm>
            <a:off x="6095848" y="1371600"/>
            <a:ext cx="0" cy="3931920"/>
          </a:xfrm>
          <a:prstGeom prst="line">
            <a:avLst/>
          </a:prstGeom>
          <a:noFill/>
          <a:ln w="9525">
            <a:solidFill>
              <a:srgbClr val="D4DAE0"/>
            </a:solidFill>
            <a:prstDash val="solid"/>
          </a:ln>
        </p:spPr>
      </p:sp>
      <p:sp>
        <p:nvSpPr>
          <p:cNvPr id="14" name="Text 12"/>
          <p:cNvSpPr txBox="1"/>
          <p:nvPr/>
        </p:nvSpPr>
        <p:spPr>
          <a:xfrm>
            <a:off x="6278728" y="1371600"/>
            <a:ext cx="516316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実行ポリシーはプロセススコープで Bypass</a:t>
            </a:r>
            <a:endParaRPr lang="en-US" sz="1150" dirty="0"/>
          </a:p>
        </p:txBody>
      </p:sp>
      <p:sp>
        <p:nvSpPr>
          <p:cNvPr id="15" name="Text 13"/>
          <p:cNvSpPr txBox="1"/>
          <p:nvPr/>
        </p:nvSpPr>
        <p:spPr>
          <a:xfrm>
            <a:off x="6278728" y="1636776"/>
            <a:ext cx="5163160" cy="804672"/>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.ps1 が既定の Windows でも動くよう、プロセススコープでのみ Bypass を指定します。グループポリシーは依然有効。端末の実効ポリシーに従わせるなら CLAUDE_CODE_POWERSHELL_RESPECT_EXECUTION_POLICY=1。</a:t>
            </a:r>
            <a:endParaRPr lang="en-US" sz="1050" dirty="0"/>
          </a:p>
        </p:txBody>
      </p:sp>
      <p:sp>
        <p:nvSpPr>
          <p:cNvPr id="16" name="Text 14"/>
          <p:cNvSpPr txBox="1"/>
          <p:nvPr/>
        </p:nvSpPr>
        <p:spPr>
          <a:xfrm>
            <a:off x="6278728" y="2642616"/>
            <a:ext cx="516316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文字コード（日本語環境で重要）</a:t>
            </a:r>
            <a:endParaRPr lang="en-US" sz="1150" dirty="0"/>
          </a:p>
        </p:txBody>
      </p:sp>
      <p:sp>
        <p:nvSpPr>
          <p:cNvPr id="17" name="Text 15"/>
          <p:cNvSpPr txBox="1"/>
          <p:nvPr/>
        </p:nvSpPr>
        <p:spPr>
          <a:xfrm>
            <a:off x="6278728" y="2907792"/>
            <a:ext cx="5163160" cy="804672"/>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v2.1.214 以降、PowerShell 5.1 の &gt; / &gt;&gt; リダイレクトが UTF-8 で書き出されます。それ以前は UTF-16LE で、非 ASCII のパイプ入力が ? 化したり Python が UnicodeEncodeError で落ちる問題がありました。</a:t>
            </a:r>
            <a:endParaRPr lang="en-US" sz="1050" dirty="0"/>
          </a:p>
        </p:txBody>
      </p:sp>
      <p:sp>
        <p:nvSpPr>
          <p:cNvPr id="18" name="Text 16"/>
          <p:cNvSpPr txBox="1"/>
          <p:nvPr/>
        </p:nvSpPr>
        <p:spPr>
          <a:xfrm>
            <a:off x="6278728" y="3913632"/>
            <a:ext cx="5163160"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WSL2 から Windows バイナリを呼ぶとき</a:t>
            </a:r>
            <a:endParaRPr lang="en-US" sz="1150" dirty="0"/>
          </a:p>
        </p:txBody>
      </p:sp>
      <p:sp>
        <p:nvSpPr>
          <p:cNvPr id="19" name="Text 17"/>
          <p:cNvSpPr txBox="1"/>
          <p:nvPr/>
        </p:nvSpPr>
        <p:spPr>
          <a:xfrm>
            <a:off x="6278728" y="4178808"/>
            <a:ext cx="5163160" cy="804672"/>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cmd.exe / powershell.exe / /mnt/c/ 配下の起動は Unix ソケット経由で Windows 側へ渡ります。サンドボックスの Unix ソケット設定に従うため、遮断するには seccomp フィルタの導入が前提です。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実行モデル</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シェル：エージェントが実際に叩くコマンドの方言が変わる</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SHELL EXECUTION</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11 / 17</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737360"/>
                <a:gridCol w="4663440"/>
                <a:gridCol w="4654296"/>
              </a:tblGrid>
              <a:tr h="310896">
                <a:tc>
                  <a:txBody>
                    <a:bodyPr/>
                    <a:lstStyle/>
                    <a:p>
                      <a:pPr indent="0" marL="0">
                        <a:buNone/>
                      </a:pPr>
                      <a:r>
                        <a:rPr lang="en-US" sz="950" b="1" dirty="0">
                          <a:solidFill>
                            <a:srgbClr val="7B8792"/>
                          </a:solidFill>
                          <a:latin typeface="Courier New" pitchFamily="34" charset="0"/>
                          <a:ea typeface="Courier New" pitchFamily="34" charset="-122"/>
                          <a:cs typeface="Courier New" pitchFamily="34" charset="-120"/>
                        </a:rPr>
                        <a:t>OS</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0B5E78"/>
                          </a:solidFill>
                          <a:latin typeface="Courier New" pitchFamily="34" charset="0"/>
                          <a:ea typeface="Courier New" pitchFamily="34" charset="-122"/>
                          <a:cs typeface="Courier New" pitchFamily="34" charset="-120"/>
                        </a:rPr>
                        <a:t>CODEX</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8A6B1F"/>
                          </a:solidFill>
                          <a:latin typeface="Courier New" pitchFamily="34" charset="0"/>
                          <a:ea typeface="Courier New" pitchFamily="34" charset="-122"/>
                          <a:cs typeface="Courier New" pitchFamily="34" charset="-120"/>
                        </a:rPr>
                        <a:t>CLAUDE CODE</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r>
              <a:tr h="566928">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macOS</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既定のシェル（zsh / bash）を Seatbelt 下で実行</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Bash ツールが主。</a:t>
                      </a:r>
                      <a:pPr indent="0" marL="0">
                        <a:buNone/>
                      </a:pPr>
                      <a:r>
                        <a:rPr lang="en-US" sz="1050" dirty="0">
                          <a:solidFill>
                            <a:srgbClr val="4C5762"/>
                          </a:solidFill>
                          <a:latin typeface="Yu Gothic" pitchFamily="34" charset="0"/>
                          <a:ea typeface="Yu Gothic" pitchFamily="34" charset="-122"/>
                          <a:cs typeface="Yu Gothic" pitchFamily="34" charset="-120"/>
                        </a:rPr>
                        <a:t>PowerShell ツールはオプトインで、pwsh 7 以上を PATH に置く必要がある</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1133856">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Windows</a:t>
                      </a:r>
                      <a:endParaRPr lang="en-US" sz="1050" dirty="0">
                        <a:latin typeface="Yu Gothic" charset="0"/>
                        <a:ea typeface="Yu Gothic" charset="0"/>
                        <a:cs typeface="Yu Gothic" charset="0"/>
                      </a:endParaRPr>
                    </a:p>
                    <a:p>
                      <a:pPr indent="0" marL="0">
                        <a:buNone/>
                      </a:pPr>
                      <a:r>
                        <a:rPr lang="en-US" sz="900" dirty="0">
                          <a:solidFill>
                            <a:srgbClr val="7B8792"/>
                          </a:solidFill>
                          <a:latin typeface="Yu Gothic" pitchFamily="34" charset="0"/>
                          <a:ea typeface="Yu Gothic" pitchFamily="34" charset="-122"/>
                          <a:cs typeface="Yu Gothic" pitchFamily="34" charset="-120"/>
                        </a:rPr>
                        <a:t>ネイティブ</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PowerShell をネイティブに使用</a:t>
                      </a:r>
                      <a:endParaRPr lang="en-US" sz="1050" dirty="0">
                        <a:latin typeface="Yu Gothic" charset="0"/>
                        <a:ea typeface="Yu Gothic" charset="0"/>
                        <a:cs typeface="Yu Gothic" charset="0"/>
                      </a:endParaRPr>
                    </a:p>
                    <a:p>
                      <a:pPr indent="0" marL="0">
                        <a:buNone/>
                      </a:pPr>
                      <a:r>
                        <a:rPr lang="en-US" sz="1050" dirty="0">
                          <a:solidFill>
                            <a:srgbClr val="4C5762"/>
                          </a:solidFill>
                          <a:latin typeface="Yu Gothic" pitchFamily="34" charset="0"/>
                          <a:ea typeface="Yu Gothic" pitchFamily="34" charset="-122"/>
                          <a:cs typeface="Yu Gothic" pitchFamily="34" charset="-120"/>
                        </a:rPr>
                        <a:t>Windows らしいコマンドがそのまま生成される</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Git Bash の有無で二段構え</a:t>
                      </a:r>
                      <a:endParaRPr lang="en-US" sz="1050" dirty="0">
                        <a:latin typeface="Yu Gothic" charset="0"/>
                        <a:ea typeface="Yu Gothic" charset="0"/>
                        <a:cs typeface="Yu Gothic" charset="0"/>
                      </a:endParaRPr>
                    </a:p>
                    <a:p>
                      <a:pPr indent="0" marL="0">
                        <a:buNone/>
                      </a:pPr>
                      <a:r>
                        <a:rPr lang="en-US" sz="1050" dirty="0">
                          <a:solidFill>
                            <a:srgbClr val="4C5762"/>
                          </a:solidFill>
                          <a:latin typeface="Yu Gothic" pitchFamily="34" charset="0"/>
                          <a:ea typeface="Yu Gothic" pitchFamily="34" charset="-122"/>
                          <a:cs typeface="Yu Gothic" pitchFamily="34" charset="-120"/>
                        </a:rPr>
                        <a:t>Git Bash 無し → PowerShell ツールが自動有効</a:t>
                      </a:r>
                      <a:endParaRPr lang="en-US" sz="1050" dirty="0">
                        <a:latin typeface="Yu Gothic" charset="0"/>
                        <a:ea typeface="Yu Gothic" charset="0"/>
                        <a:cs typeface="Yu Gothic" charset="0"/>
                      </a:endParaRPr>
                    </a:p>
                    <a:p>
                      <a:pPr indent="0" marL="0">
                        <a:buNone/>
                      </a:pPr>
                      <a:r>
                        <a:rPr lang="en-US" sz="1050" dirty="0">
                          <a:solidFill>
                            <a:srgbClr val="4C5762"/>
                          </a:solidFill>
                          <a:latin typeface="Yu Gothic" pitchFamily="34" charset="0"/>
                          <a:ea typeface="Yu Gothic" pitchFamily="34" charset="-122"/>
                          <a:cs typeface="Yu Gothic" pitchFamily="34" charset="-120"/>
                        </a:rPr>
                        <a:t>Git Bash 有り → PowerShell ツールは段階的ロールアウト（CLAUDE_CODE_USE_POWERSHELL_TOOL=1/0 で明示制御）</a:t>
                      </a:r>
                      <a:endParaRPr lang="en-US" sz="1050" dirty="0">
                        <a:latin typeface="Yu Gothic" charset="0"/>
                        <a:ea typeface="Yu Gothic" charset="0"/>
                        <a:cs typeface="Yu Gothic" charset="0"/>
                      </a:endParaRPr>
                    </a:p>
                    <a:p>
                      <a:pPr indent="0" marL="0">
                        <a:buNone/>
                      </a:pPr>
                      <a:r>
                        <a:rPr lang="en-US" sz="1050" dirty="0">
                          <a:solidFill>
                            <a:srgbClr val="4C5762"/>
                          </a:solidFill>
                          <a:latin typeface="Yu Gothic" pitchFamily="34" charset="0"/>
                          <a:ea typeface="Yu Gothic" pitchFamily="34" charset="-122"/>
                          <a:cs typeface="Yu Gothic" pitchFamily="34" charset="-120"/>
                        </a:rPr>
                        <a:t>有効時は PowerShell が主シェル扱い。POSIX スクリプト用に Bash ツールも併存</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51206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Linux / WSL2</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bash（Linux 実装のサンドボックス下）</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Bash ツール。PowerShell ツールはオプトイン（pwsh 7+ 必須）</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r h="694944">
                <a:tc>
                  <a:txBody>
                    <a:bodyPr/>
                    <a:lstStyle/>
                    <a:p>
                      <a:pPr indent="0" marL="0">
                        <a:buNone/>
                      </a:pPr>
                      <a:r>
                        <a:rPr lang="en-US" sz="1100" b="1" dirty="0">
                          <a:solidFill>
                            <a:srgbClr val="111820"/>
                          </a:solidFill>
                          <a:latin typeface="Yu Gothic" pitchFamily="34" charset="0"/>
                          <a:ea typeface="Yu Gothic" pitchFamily="34" charset="-122"/>
                          <a:cs typeface="Yu Gothic" pitchFamily="34" charset="-120"/>
                        </a:rPr>
                        <a:t>個別指定</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AF1F4"/>
                    </a:solidFill>
                  </a:tcPr>
                </a:tc>
                <a:tc>
                  <a:txBody>
                    <a:bodyPr/>
                    <a:lstStyle/>
                    <a:p>
                      <a:pPr indent="0" marL="0">
                        <a:buNone/>
                      </a:pPr>
                      <a:r>
                        <a:rPr lang="en-US" sz="1050" dirty="0">
                          <a:solidFill>
                            <a:srgbClr val="4C5762"/>
                          </a:solidFill>
                          <a:latin typeface="Yu Gothic" pitchFamily="34" charset="0"/>
                          <a:ea typeface="Yu Gothic" pitchFamily="34" charset="-122"/>
                          <a:cs typeface="Yu Gothic" pitchFamily="34" charset="-120"/>
                        </a:rPr>
                        <a:t>hooks は "shell": "powershell"、skill は frontmatter の shell: powershell、対話 ! は "defaultShell": "powershell" で個別に切替可能</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5F1E6"/>
                    </a:solidFill>
                  </a:tcPr>
                </a:tc>
              </a:tr>
            </a:tbl>
          </a:graphicData>
        </a:graphic>
      </p:graphicFrame>
      <p:sp>
        <p:nvSpPr>
          <p:cNvPr id="8" name="Shape 5"/>
          <p:cNvSpPr/>
          <p:nvPr/>
        </p:nvSpPr>
        <p:spPr>
          <a:xfrm>
            <a:off x="566928" y="5138928"/>
            <a:ext cx="11057839" cy="749808"/>
          </a:xfrm>
          <a:prstGeom prst="rect">
            <a:avLst/>
          </a:prstGeom>
          <a:solidFill>
            <a:srgbClr val="F2F5F7"/>
          </a:solidFill>
          <a:ln w="9525">
            <a:solidFill>
              <a:srgbClr val="D4DAE0"/>
            </a:solidFill>
            <a:prstDash val="solid"/>
          </a:ln>
        </p:spPr>
      </p:sp>
      <p:sp>
        <p:nvSpPr>
          <p:cNvPr id="9" name="Text 6"/>
          <p:cNvSpPr txBox="1"/>
          <p:nvPr/>
        </p:nvSpPr>
        <p:spPr>
          <a:xfrm>
            <a:off x="804672" y="5212080"/>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運用上の含意：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hooks や CI で shell コマンドを検査する場合、Claude Code では Bash だけでなく Bash|PowerShell の両方にマッチさせる必要があります。片方だけの matcher は Windows で素通りします。</a:t>
            </a:r>
            <a:endParaRPr lang="en-US" sz="1050" dirty="0"/>
          </a:p>
        </p:txBody>
      </p:sp>
      <p:sp>
        <p:nvSpPr>
          <p:cNvPr id="10" name="Text 7"/>
          <p:cNvSpPr txBox="1"/>
          <p:nvPr/>
        </p:nvSpPr>
        <p:spPr>
          <a:xfrm>
            <a:off x="1527048" y="4681728"/>
            <a:ext cx="5486400" cy="237744"/>
          </a:xfrm>
          <a:prstGeom prst="rect">
            <a:avLst/>
          </a:prstGeom>
          <a:noFill/>
          <a:ln/>
        </p:spPr>
        <p:txBody>
          <a:bodyPr wrap="square" lIns="0" tIns="0" rIns="0" bIns="0" rtlCol="0" anchor="ctr"/>
          <a:lstStyle/>
          <a:p>
            <a:pPr indent="0" marL="0">
              <a:buNone/>
            </a:pPr>
            <a:r>
              <a:rPr lang="en-US" sz="900" dirty="0">
                <a:solidFill>
                  <a:srgbClr val="7B8792"/>
                </a:solidFill>
                <a:latin typeface="Yu Gothic" pitchFamily="34" charset="0"/>
                <a:ea typeface="Yu Gothic" pitchFamily="34" charset="-122"/>
                <a:cs typeface="Yu Gothic" pitchFamily="34" charset="-120"/>
              </a:rPr>
              <a:t>※ Codex の Windows 側の挙動は公開報道・技術記事に基づく</a:t>
            </a:r>
            <a:endParaRPr lang="en-US" sz="900" dirty="0"/>
          </a:p>
        </p:txBody>
      </p:sp>
      <p:sp>
        <p:nvSpPr>
          <p:cNvPr id="11" name="Shape 8"/>
          <p:cNvSpPr/>
          <p:nvPr/>
        </p:nvSpPr>
        <p:spPr>
          <a:xfrm>
            <a:off x="566928" y="4681728"/>
            <a:ext cx="438912" cy="201168"/>
          </a:xfrm>
          <a:prstGeom prst="roundRect">
            <a:avLst>
              <a:gd name="adj" fmla="val 13636"/>
            </a:avLst>
          </a:prstGeom>
          <a:solidFill>
            <a:srgbClr val="FFFFFF">
              <a:alpha val="0"/>
            </a:srgbClr>
          </a:solidFill>
          <a:ln w="9525">
            <a:solidFill>
              <a:srgbClr val="7B8792"/>
            </a:solidFill>
            <a:prstDash val="dash"/>
          </a:ln>
        </p:spPr>
      </p:sp>
      <p:sp>
        <p:nvSpPr>
          <p:cNvPr id="12" name="Text 9"/>
          <p:cNvSpPr txBox="1"/>
          <p:nvPr/>
        </p:nvSpPr>
        <p:spPr>
          <a:xfrm>
            <a:off x="566928" y="4681728"/>
            <a:ext cx="438912" cy="201168"/>
          </a:xfrm>
          <a:prstGeom prst="rect">
            <a:avLst/>
          </a:prstGeom>
          <a:noFill/>
          <a:ln/>
        </p:spPr>
        <p:txBody>
          <a:bodyPr wrap="square" lIns="0" tIns="0" rIns="0" bIns="0" rtlCol="0" anchor="ctr"/>
          <a:lstStyle/>
          <a:p>
            <a:pPr algn="ctr" indent="0" marL="0">
              <a:buNone/>
            </a:pPr>
            <a:r>
              <a:rPr lang="en-US" sz="800" b="1" dirty="0">
                <a:solidFill>
                  <a:srgbClr val="7B8792"/>
                </a:solidFill>
                <a:latin typeface="Courier New" pitchFamily="34" charset="0"/>
                <a:ea typeface="Courier New" pitchFamily="34" charset="-122"/>
                <a:cs typeface="Courier New" pitchFamily="34" charset="-120"/>
              </a:rPr>
              <a:t>二次情報</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GUI</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デスクトップアプリの対比</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DESKTOP APPS</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12 / 17</a:t>
            </a:r>
            <a:endParaRPr lang="en-US" sz="900" dirty="0"/>
          </a:p>
        </p:txBody>
      </p:sp>
      <p:sp>
        <p:nvSpPr>
          <p:cNvPr id="7" name="Shape 5"/>
          <p:cNvSpPr/>
          <p:nvPr/>
        </p:nvSpPr>
        <p:spPr>
          <a:xfrm>
            <a:off x="566928" y="1371600"/>
            <a:ext cx="5391760" cy="3657600"/>
          </a:xfrm>
          <a:prstGeom prst="rect">
            <a:avLst/>
          </a:prstGeom>
          <a:solidFill>
            <a:srgbClr val="F2F5F7"/>
          </a:solidFill>
          <a:ln w="9525">
            <a:solidFill>
              <a:srgbClr val="D4DAE0"/>
            </a:solidFill>
            <a:prstDash val="solid"/>
          </a:ln>
        </p:spPr>
      </p:sp>
      <p:sp>
        <p:nvSpPr>
          <p:cNvPr id="8" name="Text 6"/>
          <p:cNvSpPr txBox="1"/>
          <p:nvPr/>
        </p:nvSpPr>
        <p:spPr>
          <a:xfrm>
            <a:off x="768096" y="1517904"/>
            <a:ext cx="4422496" cy="237744"/>
          </a:xfrm>
          <a:prstGeom prst="rect">
            <a:avLst/>
          </a:prstGeom>
          <a:noFill/>
          <a:ln/>
        </p:spPr>
        <p:txBody>
          <a:bodyPr wrap="square" lIns="0" tIns="0" rIns="0" bIns="0" rtlCol="0" anchor="ctr"/>
          <a:lstStyle/>
          <a:p>
            <a:pPr indent="0" marL="0">
              <a:buNone/>
            </a:pPr>
            <a:r>
              <a:rPr lang="en-US" sz="950" b="1" spc="120" kern="0" dirty="0">
                <a:solidFill>
                  <a:srgbClr val="0B5E78"/>
                </a:solidFill>
                <a:latin typeface="Courier New" pitchFamily="34" charset="0"/>
                <a:ea typeface="Courier New" pitchFamily="34" charset="-122"/>
                <a:cs typeface="Courier New" pitchFamily="34" charset="-120"/>
              </a:rPr>
              <a:t>CODEX APP</a:t>
            </a:r>
            <a:endParaRPr lang="en-US" sz="950" dirty="0"/>
          </a:p>
        </p:txBody>
      </p:sp>
      <p:sp>
        <p:nvSpPr>
          <p:cNvPr id="9" name="Shape 7"/>
          <p:cNvSpPr/>
          <p:nvPr/>
        </p:nvSpPr>
        <p:spPr>
          <a:xfrm>
            <a:off x="5318608" y="1527048"/>
            <a:ext cx="438912" cy="201168"/>
          </a:xfrm>
          <a:prstGeom prst="roundRect">
            <a:avLst>
              <a:gd name="adj" fmla="val 13636"/>
            </a:avLst>
          </a:prstGeom>
          <a:solidFill>
            <a:srgbClr val="FFFFFF">
              <a:alpha val="0"/>
            </a:srgbClr>
          </a:solidFill>
          <a:ln w="9525">
            <a:solidFill>
              <a:srgbClr val="7B8792"/>
            </a:solidFill>
            <a:prstDash val="dash"/>
          </a:ln>
        </p:spPr>
      </p:sp>
      <p:sp>
        <p:nvSpPr>
          <p:cNvPr id="10" name="Text 8"/>
          <p:cNvSpPr txBox="1"/>
          <p:nvPr/>
        </p:nvSpPr>
        <p:spPr>
          <a:xfrm>
            <a:off x="5318608" y="1527048"/>
            <a:ext cx="438912" cy="201168"/>
          </a:xfrm>
          <a:prstGeom prst="rect">
            <a:avLst/>
          </a:prstGeom>
          <a:noFill/>
          <a:ln/>
        </p:spPr>
        <p:txBody>
          <a:bodyPr wrap="square" lIns="0" tIns="0" rIns="0" bIns="0" rtlCol="0" anchor="ctr"/>
          <a:lstStyle/>
          <a:p>
            <a:pPr algn="ctr" indent="0" marL="0">
              <a:buNone/>
            </a:pPr>
            <a:r>
              <a:rPr lang="en-US" sz="800" b="1" dirty="0">
                <a:solidFill>
                  <a:srgbClr val="7B8792"/>
                </a:solidFill>
                <a:latin typeface="Courier New" pitchFamily="34" charset="0"/>
                <a:ea typeface="Courier New" pitchFamily="34" charset="-122"/>
                <a:cs typeface="Courier New" pitchFamily="34" charset="-120"/>
              </a:rPr>
              <a:t>二次情報</a:t>
            </a:r>
            <a:endParaRPr lang="en-US" sz="800" dirty="0"/>
          </a:p>
        </p:txBody>
      </p:sp>
      <p:sp>
        <p:nvSpPr>
          <p:cNvPr id="11" name="Text 9"/>
          <p:cNvSpPr txBox="1"/>
          <p:nvPr/>
        </p:nvSpPr>
        <p:spPr>
          <a:xfrm>
            <a:off x="768096" y="1828800"/>
            <a:ext cx="4989424" cy="303580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macOS が先行（2026 年 2 月）、Windows は 2026 年 3 月 4 日に追随。約 1 か月の時間差があった</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複数エージェントのオーケストレーションを中心に据えた「エージェントの司令塔」という位置づけ</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Windows 版は PowerShell とネイティブサンドボックスで動作し、WSL2 を選ぶこともできる</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Windows 版の中核機能：worktrees、Automations、Skills、アプリ内ブラウザ、Git 連携、成果物プレビュー、プラグイン</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Windows 推奨は Windows 11。Windows 10 は best-effort 扱い</a:t>
            </a:r>
            <a:endParaRPr lang="en-US" sz="1050" dirty="0"/>
          </a:p>
        </p:txBody>
      </p:sp>
      <p:sp>
        <p:nvSpPr>
          <p:cNvPr id="12" name="Shape 10"/>
          <p:cNvSpPr/>
          <p:nvPr/>
        </p:nvSpPr>
        <p:spPr>
          <a:xfrm>
            <a:off x="6233008" y="1371600"/>
            <a:ext cx="5391760" cy="3657600"/>
          </a:xfrm>
          <a:prstGeom prst="rect">
            <a:avLst/>
          </a:prstGeom>
          <a:solidFill>
            <a:srgbClr val="F2F5F7"/>
          </a:solidFill>
          <a:ln w="9525">
            <a:solidFill>
              <a:srgbClr val="D4DAE0"/>
            </a:solidFill>
            <a:prstDash val="solid"/>
          </a:ln>
        </p:spPr>
      </p:sp>
      <p:sp>
        <p:nvSpPr>
          <p:cNvPr id="13" name="Text 11"/>
          <p:cNvSpPr txBox="1"/>
          <p:nvPr/>
        </p:nvSpPr>
        <p:spPr>
          <a:xfrm>
            <a:off x="6434176" y="1517904"/>
            <a:ext cx="4989424" cy="237744"/>
          </a:xfrm>
          <a:prstGeom prst="rect">
            <a:avLst/>
          </a:prstGeom>
          <a:noFill/>
          <a:ln/>
        </p:spPr>
        <p:txBody>
          <a:bodyPr wrap="square" lIns="0" tIns="0" rIns="0" bIns="0" rtlCol="0" anchor="ctr"/>
          <a:lstStyle/>
          <a:p>
            <a:pPr indent="0" marL="0">
              <a:buNone/>
            </a:pPr>
            <a:r>
              <a:rPr lang="en-US" sz="950" b="1" spc="120" kern="0" dirty="0">
                <a:solidFill>
                  <a:srgbClr val="8A6B1F"/>
                </a:solidFill>
                <a:latin typeface="Courier New" pitchFamily="34" charset="0"/>
                <a:ea typeface="Courier New" pitchFamily="34" charset="-122"/>
                <a:cs typeface="Courier New" pitchFamily="34" charset="-120"/>
              </a:rPr>
              <a:t>CLAUDE デスクトップの CODE タブ</a:t>
            </a:r>
            <a:endParaRPr lang="en-US" sz="950" dirty="0"/>
          </a:p>
        </p:txBody>
      </p:sp>
      <p:sp>
        <p:nvSpPr>
          <p:cNvPr id="14" name="Text 12"/>
          <p:cNvSpPr txBox="1"/>
          <p:nvPr/>
        </p:nvSpPr>
        <p:spPr>
          <a:xfrm>
            <a:off x="6434176" y="1828800"/>
            <a:ext cx="4989424" cy="303580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macOS（Universal）/ Windows（x64・ARM64）/ Linux（beta）を同時に提供。ARM64 Windows のインストーラも用意されている</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並列セッション（各セッションが独立した git worktree）、差分レビュー、統合ターミナル、アプリプレビュー、PR 監視と自動マージ、スケジュールタスク</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Windows のみ：ローカルセッションに Git のインストールが必須。macOS は多くの環境で標準搭載</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Windows のみ：環境ピッカーで WSL セッションを選べる（WSL2 必須、distro 内に git が必要）</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CLI と同一エンジンで、CLAUDE.md・MCP・hooks・skills・設定を共有する</a:t>
            </a:r>
            <a:endParaRPr lang="en-US" sz="1050" dirty="0"/>
          </a:p>
        </p:txBody>
      </p:sp>
      <p:sp>
        <p:nvSpPr>
          <p:cNvPr id="15" name="Shape 13"/>
          <p:cNvSpPr/>
          <p:nvPr/>
        </p:nvSpPr>
        <p:spPr>
          <a:xfrm>
            <a:off x="566928" y="5230368"/>
            <a:ext cx="11057839" cy="749808"/>
          </a:xfrm>
          <a:prstGeom prst="rect">
            <a:avLst/>
          </a:prstGeom>
          <a:solidFill>
            <a:srgbClr val="F2F5F7"/>
          </a:solidFill>
          <a:ln w="9525">
            <a:solidFill>
              <a:srgbClr val="D4DAE0"/>
            </a:solidFill>
            <a:prstDash val="solid"/>
          </a:ln>
        </p:spPr>
      </p:sp>
      <p:sp>
        <p:nvSpPr>
          <p:cNvPr id="16" name="Text 14"/>
          <p:cNvSpPr txBox="1"/>
          <p:nvPr/>
        </p:nvSpPr>
        <p:spPr>
          <a:xfrm>
            <a:off x="804672" y="5303520"/>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共通点：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どちらも「複数セッション／エージェントを並べて回す」方向に進んでおり、GUI の有無そのものは選定理由になりません。差が出るのは次スライドのデスクトップ操作です。</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最大の macOS / WINDOWS 差</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デスクトップ操作：macOS だけが「背後で並列に」動ける</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COMPUTER USE</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13 / 17</a:t>
            </a:r>
            <a:endParaRPr lang="en-US" sz="900" dirty="0"/>
          </a:p>
        </p:txBody>
      </p:sp>
      <p:sp>
        <p:nvSpPr>
          <p:cNvPr id="7" name="Shape 5"/>
          <p:cNvSpPr/>
          <p:nvPr/>
        </p:nvSpPr>
        <p:spPr>
          <a:xfrm>
            <a:off x="566928" y="1371600"/>
            <a:ext cx="5391760" cy="3017520"/>
          </a:xfrm>
          <a:prstGeom prst="rect">
            <a:avLst/>
          </a:prstGeom>
          <a:solidFill>
            <a:srgbClr val="F2F5F7"/>
          </a:solidFill>
          <a:ln w="9525">
            <a:solidFill>
              <a:srgbClr val="D4DAE0"/>
            </a:solidFill>
            <a:prstDash val="solid"/>
          </a:ln>
        </p:spPr>
      </p:sp>
      <p:sp>
        <p:nvSpPr>
          <p:cNvPr id="8" name="Text 6"/>
          <p:cNvSpPr txBox="1"/>
          <p:nvPr/>
        </p:nvSpPr>
        <p:spPr>
          <a:xfrm>
            <a:off x="768096" y="1517904"/>
            <a:ext cx="4989424" cy="237744"/>
          </a:xfrm>
          <a:prstGeom prst="rect">
            <a:avLst/>
          </a:prstGeom>
          <a:noFill/>
          <a:ln/>
        </p:spPr>
        <p:txBody>
          <a:bodyPr wrap="square" lIns="0" tIns="0" rIns="0" bIns="0" rtlCol="0" anchor="ctr"/>
          <a:lstStyle/>
          <a:p>
            <a:pPr indent="0" marL="0">
              <a:buNone/>
            </a:pPr>
            <a:r>
              <a:rPr lang="en-US" sz="950" b="1" spc="120" kern="0" dirty="0">
                <a:solidFill>
                  <a:srgbClr val="0B5E78"/>
                </a:solidFill>
                <a:latin typeface="Courier New" pitchFamily="34" charset="0"/>
                <a:ea typeface="Courier New" pitchFamily="34" charset="-122"/>
                <a:cs typeface="Courier New" pitchFamily="34" charset="-120"/>
              </a:rPr>
              <a:t>CODEX — COMPUTER USE</a:t>
            </a:r>
            <a:endParaRPr lang="en-US" sz="950" dirty="0"/>
          </a:p>
        </p:txBody>
      </p:sp>
      <p:sp>
        <p:nvSpPr>
          <p:cNvPr id="9" name="Shape 7"/>
          <p:cNvSpPr/>
          <p:nvPr/>
        </p:nvSpPr>
        <p:spPr>
          <a:xfrm>
            <a:off x="768096" y="1901952"/>
            <a:ext cx="516636" cy="201168"/>
          </a:xfrm>
          <a:prstGeom prst="roundRect">
            <a:avLst>
              <a:gd name="adj" fmla="val 13636"/>
            </a:avLst>
          </a:prstGeom>
          <a:solidFill>
            <a:srgbClr val="FFFFFF">
              <a:alpha val="0"/>
            </a:srgbClr>
          </a:solidFill>
          <a:ln w="9525">
            <a:solidFill>
              <a:srgbClr val="4C5762"/>
            </a:solidFill>
            <a:prstDash val="solid"/>
          </a:ln>
        </p:spPr>
      </p:sp>
      <p:sp>
        <p:nvSpPr>
          <p:cNvPr id="10" name="Text 8"/>
          <p:cNvSpPr txBox="1"/>
          <p:nvPr/>
        </p:nvSpPr>
        <p:spPr>
          <a:xfrm>
            <a:off x="768096" y="1901952"/>
            <a:ext cx="516636" cy="201168"/>
          </a:xfrm>
          <a:prstGeom prst="rect">
            <a:avLst/>
          </a:prstGeom>
          <a:noFill/>
          <a:ln/>
        </p:spPr>
        <p:txBody>
          <a:bodyPr wrap="square" lIns="0" tIns="0" rIns="0" bIns="0" rtlCol="0" anchor="ctr"/>
          <a:lstStyle/>
          <a:p>
            <a:pPr algn="ctr" indent="0" marL="0">
              <a:buNone/>
            </a:pPr>
            <a:r>
              <a:rPr lang="en-US" sz="800" b="1" dirty="0">
                <a:solidFill>
                  <a:srgbClr val="4C5762"/>
                </a:solidFill>
                <a:latin typeface="Courier New" pitchFamily="34" charset="0"/>
                <a:ea typeface="Courier New" pitchFamily="34" charset="-122"/>
                <a:cs typeface="Courier New" pitchFamily="34" charset="-120"/>
              </a:rPr>
              <a:t>macOS</a:t>
            </a:r>
            <a:endParaRPr lang="en-US" sz="800" dirty="0"/>
          </a:p>
        </p:txBody>
      </p:sp>
      <p:sp>
        <p:nvSpPr>
          <p:cNvPr id="11" name="Text 9"/>
          <p:cNvSpPr txBox="1"/>
          <p:nvPr/>
        </p:nvSpPr>
        <p:spPr>
          <a:xfrm>
            <a:off x="1591056" y="1883664"/>
            <a:ext cx="4166464" cy="237744"/>
          </a:xfrm>
          <a:prstGeom prst="rect">
            <a:avLst/>
          </a:prstGeom>
          <a:noFill/>
          <a:ln/>
        </p:spPr>
        <p:txBody>
          <a:bodyPr wrap="square" lIns="0" tIns="0" rIns="0" bIns="0" rtlCol="0" anchor="ctr"/>
          <a:lstStyle/>
          <a:p>
            <a:pPr indent="0" marL="0">
              <a:buNone/>
            </a:pPr>
            <a:r>
              <a:rPr lang="en-US" sz="1150" b="1" dirty="0">
                <a:solidFill>
                  <a:srgbClr val="111820"/>
                </a:solidFill>
                <a:latin typeface="Yu Gothic" pitchFamily="34" charset="0"/>
                <a:ea typeface="Yu Gothic" pitchFamily="34" charset="-122"/>
                <a:cs typeface="Yu Gothic" pitchFamily="34" charset="-120"/>
              </a:rPr>
              <a:t>バックグラウンド動作</a:t>
            </a:r>
            <a:endParaRPr lang="en-US" sz="1150" dirty="0"/>
          </a:p>
        </p:txBody>
      </p:sp>
      <p:sp>
        <p:nvSpPr>
          <p:cNvPr id="12" name="Text 10"/>
          <p:cNvSpPr txBox="1"/>
          <p:nvPr/>
        </p:nvSpPr>
        <p:spPr>
          <a:xfrm>
            <a:off x="768096" y="2194560"/>
            <a:ext cx="4989424" cy="749808"/>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エージェントが自前のカーソルで画面を見て・クリックし・入力します。複数のエージェントが並列に動作し、ユーザーが他アプリで作業していても干渉しません。</a:t>
            </a:r>
            <a:endParaRPr lang="en-US" sz="1050" dirty="0"/>
          </a:p>
        </p:txBody>
      </p:sp>
      <p:sp>
        <p:nvSpPr>
          <p:cNvPr id="13" name="Shape 11"/>
          <p:cNvSpPr/>
          <p:nvPr/>
        </p:nvSpPr>
        <p:spPr>
          <a:xfrm>
            <a:off x="768096" y="3035808"/>
            <a:ext cx="672084" cy="201168"/>
          </a:xfrm>
          <a:prstGeom prst="roundRect">
            <a:avLst>
              <a:gd name="adj" fmla="val 13636"/>
            </a:avLst>
          </a:prstGeom>
          <a:solidFill>
            <a:srgbClr val="FFFFFF">
              <a:alpha val="0"/>
            </a:srgbClr>
          </a:solidFill>
          <a:ln w="9525">
            <a:solidFill>
              <a:srgbClr val="4C5762"/>
            </a:solidFill>
            <a:prstDash val="solid"/>
          </a:ln>
        </p:spPr>
      </p:sp>
      <p:sp>
        <p:nvSpPr>
          <p:cNvPr id="14" name="Text 12"/>
          <p:cNvSpPr txBox="1"/>
          <p:nvPr/>
        </p:nvSpPr>
        <p:spPr>
          <a:xfrm>
            <a:off x="768096" y="3035808"/>
            <a:ext cx="672084" cy="201168"/>
          </a:xfrm>
          <a:prstGeom prst="rect">
            <a:avLst/>
          </a:prstGeom>
          <a:noFill/>
          <a:ln/>
        </p:spPr>
        <p:txBody>
          <a:bodyPr wrap="square" lIns="0" tIns="0" rIns="0" bIns="0" rtlCol="0" anchor="ctr"/>
          <a:lstStyle/>
          <a:p>
            <a:pPr algn="ctr" indent="0" marL="0">
              <a:buNone/>
            </a:pPr>
            <a:r>
              <a:rPr lang="en-US" sz="800" b="1" dirty="0">
                <a:solidFill>
                  <a:srgbClr val="4C5762"/>
                </a:solidFill>
                <a:latin typeface="Courier New" pitchFamily="34" charset="0"/>
                <a:ea typeface="Courier New" pitchFamily="34" charset="-122"/>
                <a:cs typeface="Courier New" pitchFamily="34" charset="-120"/>
              </a:rPr>
              <a:t>Windows</a:t>
            </a:r>
            <a:endParaRPr lang="en-US" sz="800" dirty="0"/>
          </a:p>
        </p:txBody>
      </p:sp>
      <p:sp>
        <p:nvSpPr>
          <p:cNvPr id="15" name="Text 13"/>
          <p:cNvSpPr txBox="1"/>
          <p:nvPr/>
        </p:nvSpPr>
        <p:spPr>
          <a:xfrm>
            <a:off x="1737360" y="3017520"/>
            <a:ext cx="4020160" cy="237744"/>
          </a:xfrm>
          <a:prstGeom prst="rect">
            <a:avLst/>
          </a:prstGeom>
          <a:noFill/>
          <a:ln/>
        </p:spPr>
        <p:txBody>
          <a:bodyPr wrap="square" lIns="0" tIns="0" rIns="0" bIns="0" rtlCol="0" anchor="ctr"/>
          <a:lstStyle/>
          <a:p>
            <a:pPr indent="0" marL="0">
              <a:buNone/>
            </a:pPr>
            <a:r>
              <a:rPr lang="en-US" sz="1150" b="1" dirty="0">
                <a:solidFill>
                  <a:srgbClr val="AE3B33"/>
                </a:solidFill>
                <a:latin typeface="Yu Gothic" pitchFamily="34" charset="0"/>
                <a:ea typeface="Yu Gothic" pitchFamily="34" charset="-122"/>
                <a:cs typeface="Yu Gothic" pitchFamily="34" charset="-120"/>
              </a:rPr>
              <a:t>フォアグラウンド占有</a:t>
            </a:r>
            <a:endParaRPr lang="en-US" sz="1150" dirty="0"/>
          </a:p>
        </p:txBody>
      </p:sp>
      <p:sp>
        <p:nvSpPr>
          <p:cNvPr id="16" name="Text 14"/>
          <p:cNvSpPr txBox="1"/>
          <p:nvPr/>
        </p:nvSpPr>
        <p:spPr>
          <a:xfrm>
            <a:off x="768096" y="3328416"/>
            <a:ext cx="4989424" cy="749808"/>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アクティブデスクトップ上でのみ動作し、同じ Windows セッションを使いながらのバックグラウンド実行はできません。実行中はポインタと前面が奪われます。</a:t>
            </a:r>
            <a:endParaRPr lang="en-US" sz="1050" dirty="0"/>
          </a:p>
        </p:txBody>
      </p:sp>
      <p:sp>
        <p:nvSpPr>
          <p:cNvPr id="17" name="Shape 15"/>
          <p:cNvSpPr/>
          <p:nvPr/>
        </p:nvSpPr>
        <p:spPr>
          <a:xfrm>
            <a:off x="768096" y="4096512"/>
            <a:ext cx="438912" cy="201168"/>
          </a:xfrm>
          <a:prstGeom prst="roundRect">
            <a:avLst>
              <a:gd name="adj" fmla="val 13636"/>
            </a:avLst>
          </a:prstGeom>
          <a:solidFill>
            <a:srgbClr val="FFFFFF">
              <a:alpha val="0"/>
            </a:srgbClr>
          </a:solidFill>
          <a:ln w="9525">
            <a:solidFill>
              <a:srgbClr val="7B8792"/>
            </a:solidFill>
            <a:prstDash val="dash"/>
          </a:ln>
        </p:spPr>
      </p:sp>
      <p:sp>
        <p:nvSpPr>
          <p:cNvPr id="18" name="Text 16"/>
          <p:cNvSpPr txBox="1"/>
          <p:nvPr/>
        </p:nvSpPr>
        <p:spPr>
          <a:xfrm>
            <a:off x="768096" y="4096512"/>
            <a:ext cx="438912" cy="201168"/>
          </a:xfrm>
          <a:prstGeom prst="rect">
            <a:avLst/>
          </a:prstGeom>
          <a:noFill/>
          <a:ln/>
        </p:spPr>
        <p:txBody>
          <a:bodyPr wrap="square" lIns="0" tIns="0" rIns="0" bIns="0" rtlCol="0" anchor="ctr"/>
          <a:lstStyle/>
          <a:p>
            <a:pPr algn="ctr" indent="0" marL="0">
              <a:buNone/>
            </a:pPr>
            <a:r>
              <a:rPr lang="en-US" sz="800" b="1" dirty="0">
                <a:solidFill>
                  <a:srgbClr val="7B8792"/>
                </a:solidFill>
                <a:latin typeface="Courier New" pitchFamily="34" charset="0"/>
                <a:ea typeface="Courier New" pitchFamily="34" charset="-122"/>
                <a:cs typeface="Courier New" pitchFamily="34" charset="-120"/>
              </a:rPr>
              <a:t>二次情報</a:t>
            </a:r>
            <a:endParaRPr lang="en-US" sz="800" dirty="0"/>
          </a:p>
        </p:txBody>
      </p:sp>
      <p:sp>
        <p:nvSpPr>
          <p:cNvPr id="19" name="Shape 17"/>
          <p:cNvSpPr/>
          <p:nvPr/>
        </p:nvSpPr>
        <p:spPr>
          <a:xfrm>
            <a:off x="6233008" y="1371600"/>
            <a:ext cx="5391760" cy="3017520"/>
          </a:xfrm>
          <a:prstGeom prst="rect">
            <a:avLst/>
          </a:prstGeom>
          <a:solidFill>
            <a:srgbClr val="F2F5F7"/>
          </a:solidFill>
          <a:ln w="9525">
            <a:solidFill>
              <a:srgbClr val="D4DAE0"/>
            </a:solidFill>
            <a:prstDash val="solid"/>
          </a:ln>
        </p:spPr>
      </p:sp>
      <p:sp>
        <p:nvSpPr>
          <p:cNvPr id="20" name="Text 18"/>
          <p:cNvSpPr txBox="1"/>
          <p:nvPr/>
        </p:nvSpPr>
        <p:spPr>
          <a:xfrm>
            <a:off x="6434176" y="1517904"/>
            <a:ext cx="4989424" cy="237744"/>
          </a:xfrm>
          <a:prstGeom prst="rect">
            <a:avLst/>
          </a:prstGeom>
          <a:noFill/>
          <a:ln/>
        </p:spPr>
        <p:txBody>
          <a:bodyPr wrap="square" lIns="0" tIns="0" rIns="0" bIns="0" rtlCol="0" anchor="ctr"/>
          <a:lstStyle/>
          <a:p>
            <a:pPr indent="0" marL="0">
              <a:buNone/>
            </a:pPr>
            <a:r>
              <a:rPr lang="en-US" sz="950" b="1" spc="120" kern="0" dirty="0">
                <a:solidFill>
                  <a:srgbClr val="8A6B1F"/>
                </a:solidFill>
                <a:latin typeface="Courier New" pitchFamily="34" charset="0"/>
                <a:ea typeface="Courier New" pitchFamily="34" charset="-122"/>
                <a:cs typeface="Courier New" pitchFamily="34" charset="-120"/>
              </a:rPr>
              <a:t>CLAUDE 側の対応領域</a:t>
            </a:r>
            <a:endParaRPr lang="en-US" sz="950" dirty="0"/>
          </a:p>
        </p:txBody>
      </p:sp>
      <p:sp>
        <p:nvSpPr>
          <p:cNvPr id="21" name="Text 19"/>
          <p:cNvSpPr txBox="1"/>
          <p:nvPr/>
        </p:nvSpPr>
        <p:spPr>
          <a:xfrm>
            <a:off x="6434176" y="1883664"/>
            <a:ext cx="4989424" cy="960120"/>
          </a:xfrm>
          <a:prstGeom prst="rect">
            <a:avLst/>
          </a:prstGeom>
          <a:noFill/>
          <a:ln/>
        </p:spPr>
        <p:txBody>
          <a:bodyPr wrap="square" lIns="0" tIns="0" rIns="0" bIns="0" rtlCol="0" anchor="t"/>
          <a:lstStyle/>
          <a:p>
            <a:pPr indent="0" marL="0">
              <a:lnSpc>
                <a:spcPct val="134000"/>
              </a:lnSpc>
              <a:buNone/>
            </a:pPr>
            <a:r>
              <a:rPr lang="en-US" sz="1050" b="1" dirty="0">
                <a:solidFill>
                  <a:srgbClr val="111820"/>
                </a:solidFill>
                <a:latin typeface="Yu Gothic" pitchFamily="34" charset="0"/>
                <a:ea typeface="Yu Gothic" pitchFamily="34" charset="-122"/>
                <a:cs typeface="Yu Gothic" pitchFamily="34" charset="-120"/>
              </a:rPr>
              <a:t>Claude Code には OS 全体を操作する同等の Computer Use 機能は提供されていません。</a:t>
            </a:r>
            <a:endParaRPr lang="en-US" sz="1050" dirty="0"/>
          </a:p>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担当領域はデスクトップアプリ内のブラウザペインとアプリプレビューです（開発中のアプリを見て、エンドポイントを叩き、ログを確認して反復する）。</a:t>
            </a:r>
            <a:endParaRPr lang="en-US" sz="1050" dirty="0"/>
          </a:p>
        </p:txBody>
      </p:sp>
      <p:sp>
        <p:nvSpPr>
          <p:cNvPr id="22" name="Text 20"/>
          <p:cNvSpPr txBox="1"/>
          <p:nvPr/>
        </p:nvSpPr>
        <p:spPr>
          <a:xfrm>
            <a:off x="6434176" y="2889504"/>
            <a:ext cx="4989424" cy="475488"/>
          </a:xfrm>
          <a:prstGeom prst="rect">
            <a:avLst/>
          </a:prstGeom>
          <a:noFill/>
          <a:ln/>
        </p:spPr>
        <p:txBody>
          <a:bodyPr wrap="square" lIns="0" tIns="0" rIns="0" bIns="0" rtlCol="0" anchor="t"/>
          <a:lstStyle/>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自律作業は別タブの Cowork が担当し、隔離された VM 内で実行されます。ここに OS 差が出ます：</a:t>
            </a:r>
            <a:endParaRPr lang="en-US" sz="1050" dirty="0"/>
          </a:p>
        </p:txBody>
      </p:sp>
      <p:sp>
        <p:nvSpPr>
          <p:cNvPr id="23" name="Shape 21"/>
          <p:cNvSpPr/>
          <p:nvPr/>
        </p:nvSpPr>
        <p:spPr>
          <a:xfrm>
            <a:off x="6434176" y="3419856"/>
            <a:ext cx="516636" cy="201168"/>
          </a:xfrm>
          <a:prstGeom prst="roundRect">
            <a:avLst>
              <a:gd name="adj" fmla="val 13636"/>
            </a:avLst>
          </a:prstGeom>
          <a:solidFill>
            <a:srgbClr val="FFFFFF">
              <a:alpha val="0"/>
            </a:srgbClr>
          </a:solidFill>
          <a:ln w="9525">
            <a:solidFill>
              <a:srgbClr val="4C5762"/>
            </a:solidFill>
            <a:prstDash val="solid"/>
          </a:ln>
        </p:spPr>
      </p:sp>
      <p:sp>
        <p:nvSpPr>
          <p:cNvPr id="24" name="Text 22"/>
          <p:cNvSpPr txBox="1"/>
          <p:nvPr/>
        </p:nvSpPr>
        <p:spPr>
          <a:xfrm>
            <a:off x="6434176" y="3419856"/>
            <a:ext cx="516636" cy="201168"/>
          </a:xfrm>
          <a:prstGeom prst="rect">
            <a:avLst/>
          </a:prstGeom>
          <a:noFill/>
          <a:ln/>
        </p:spPr>
        <p:txBody>
          <a:bodyPr wrap="square" lIns="0" tIns="0" rIns="0" bIns="0" rtlCol="0" anchor="ctr"/>
          <a:lstStyle/>
          <a:p>
            <a:pPr algn="ctr" indent="0" marL="0">
              <a:buNone/>
            </a:pPr>
            <a:r>
              <a:rPr lang="en-US" sz="800" b="1" dirty="0">
                <a:solidFill>
                  <a:srgbClr val="4C5762"/>
                </a:solidFill>
                <a:latin typeface="Courier New" pitchFamily="34" charset="0"/>
                <a:ea typeface="Courier New" pitchFamily="34" charset="-122"/>
                <a:cs typeface="Courier New" pitchFamily="34" charset="-120"/>
              </a:rPr>
              <a:t>macOS</a:t>
            </a:r>
            <a:endParaRPr lang="en-US" sz="800" dirty="0"/>
          </a:p>
        </p:txBody>
      </p:sp>
      <p:sp>
        <p:nvSpPr>
          <p:cNvPr id="25" name="Text 23"/>
          <p:cNvSpPr txBox="1"/>
          <p:nvPr/>
        </p:nvSpPr>
        <p:spPr>
          <a:xfrm>
            <a:off x="7257136" y="3401568"/>
            <a:ext cx="4166464" cy="237744"/>
          </a:xfrm>
          <a:prstGeom prst="rect">
            <a:avLst/>
          </a:prstGeom>
          <a:noFill/>
          <a:ln/>
        </p:spPr>
        <p:txBody>
          <a:bodyPr wrap="square" lIns="0" tIns="0" rIns="0" bIns="0" rtlCol="0" anchor="ctr"/>
          <a:lstStyle/>
          <a:p>
            <a:pPr indent="0" marL="0">
              <a:buNone/>
            </a:pPr>
            <a:r>
              <a:rPr lang="en-US" sz="1050" dirty="0">
                <a:solidFill>
                  <a:srgbClr val="4C5762"/>
                </a:solidFill>
                <a:latin typeface="Yu Gothic" pitchFamily="34" charset="0"/>
                <a:ea typeface="Yu Gothic" pitchFamily="34" charset="-122"/>
                <a:cs typeface="Yu Gothic" pitchFamily="34" charset="-120"/>
              </a:rPr>
              <a:t>Apple Virtualization.framework（Apple Silicon が必要）</a:t>
            </a:r>
            <a:endParaRPr lang="en-US" sz="1050" dirty="0"/>
          </a:p>
        </p:txBody>
      </p:sp>
      <p:sp>
        <p:nvSpPr>
          <p:cNvPr id="26" name="Shape 24"/>
          <p:cNvSpPr/>
          <p:nvPr/>
        </p:nvSpPr>
        <p:spPr>
          <a:xfrm>
            <a:off x="6434176" y="3730752"/>
            <a:ext cx="672084" cy="201168"/>
          </a:xfrm>
          <a:prstGeom prst="roundRect">
            <a:avLst>
              <a:gd name="adj" fmla="val 13636"/>
            </a:avLst>
          </a:prstGeom>
          <a:solidFill>
            <a:srgbClr val="FFFFFF">
              <a:alpha val="0"/>
            </a:srgbClr>
          </a:solidFill>
          <a:ln w="9525">
            <a:solidFill>
              <a:srgbClr val="4C5762"/>
            </a:solidFill>
            <a:prstDash val="solid"/>
          </a:ln>
        </p:spPr>
      </p:sp>
      <p:sp>
        <p:nvSpPr>
          <p:cNvPr id="27" name="Text 25"/>
          <p:cNvSpPr txBox="1"/>
          <p:nvPr/>
        </p:nvSpPr>
        <p:spPr>
          <a:xfrm>
            <a:off x="6434176" y="3730752"/>
            <a:ext cx="672084" cy="201168"/>
          </a:xfrm>
          <a:prstGeom prst="rect">
            <a:avLst/>
          </a:prstGeom>
          <a:noFill/>
          <a:ln/>
        </p:spPr>
        <p:txBody>
          <a:bodyPr wrap="square" lIns="0" tIns="0" rIns="0" bIns="0" rtlCol="0" anchor="ctr"/>
          <a:lstStyle/>
          <a:p>
            <a:pPr algn="ctr" indent="0" marL="0">
              <a:buNone/>
            </a:pPr>
            <a:r>
              <a:rPr lang="en-US" sz="800" b="1" dirty="0">
                <a:solidFill>
                  <a:srgbClr val="4C5762"/>
                </a:solidFill>
                <a:latin typeface="Courier New" pitchFamily="34" charset="0"/>
                <a:ea typeface="Courier New" pitchFamily="34" charset="-122"/>
                <a:cs typeface="Courier New" pitchFamily="34" charset="-120"/>
              </a:rPr>
              <a:t>Windows</a:t>
            </a:r>
            <a:endParaRPr lang="en-US" sz="800" dirty="0"/>
          </a:p>
        </p:txBody>
      </p:sp>
      <p:sp>
        <p:nvSpPr>
          <p:cNvPr id="28" name="Text 26"/>
          <p:cNvSpPr txBox="1"/>
          <p:nvPr/>
        </p:nvSpPr>
        <p:spPr>
          <a:xfrm>
            <a:off x="7403440" y="3712464"/>
            <a:ext cx="4020160" cy="237744"/>
          </a:xfrm>
          <a:prstGeom prst="rect">
            <a:avLst/>
          </a:prstGeom>
          <a:noFill/>
          <a:ln/>
        </p:spPr>
        <p:txBody>
          <a:bodyPr wrap="square" lIns="0" tIns="0" rIns="0" bIns="0" rtlCol="0" anchor="ctr"/>
          <a:lstStyle/>
          <a:p>
            <a:pPr indent="0" marL="0">
              <a:buNone/>
            </a:pPr>
            <a:r>
              <a:rPr lang="en-US" sz="1050" dirty="0">
                <a:solidFill>
                  <a:srgbClr val="4C5762"/>
                </a:solidFill>
                <a:latin typeface="Yu Gothic" pitchFamily="34" charset="0"/>
                <a:ea typeface="Yu Gothic" pitchFamily="34" charset="-122"/>
                <a:cs typeface="Yu Gothic" pitchFamily="34" charset="-120"/>
              </a:rPr>
              <a:t>Hyper-V（Pro / Enterprise / Education が必要、Home では不可）</a:t>
            </a:r>
            <a:endParaRPr lang="en-US" sz="1050" dirty="0"/>
          </a:p>
        </p:txBody>
      </p:sp>
      <p:sp>
        <p:nvSpPr>
          <p:cNvPr id="29" name="Shape 27"/>
          <p:cNvSpPr/>
          <p:nvPr/>
        </p:nvSpPr>
        <p:spPr>
          <a:xfrm>
            <a:off x="6434176" y="4059936"/>
            <a:ext cx="438912" cy="201168"/>
          </a:xfrm>
          <a:prstGeom prst="roundRect">
            <a:avLst>
              <a:gd name="adj" fmla="val 13636"/>
            </a:avLst>
          </a:prstGeom>
          <a:solidFill>
            <a:srgbClr val="FFFFFF">
              <a:alpha val="0"/>
            </a:srgbClr>
          </a:solidFill>
          <a:ln w="9525">
            <a:solidFill>
              <a:srgbClr val="7B8792"/>
            </a:solidFill>
            <a:prstDash val="dash"/>
          </a:ln>
        </p:spPr>
      </p:sp>
      <p:sp>
        <p:nvSpPr>
          <p:cNvPr id="30" name="Text 28"/>
          <p:cNvSpPr txBox="1"/>
          <p:nvPr/>
        </p:nvSpPr>
        <p:spPr>
          <a:xfrm>
            <a:off x="6434176" y="4059936"/>
            <a:ext cx="438912" cy="201168"/>
          </a:xfrm>
          <a:prstGeom prst="rect">
            <a:avLst/>
          </a:prstGeom>
          <a:noFill/>
          <a:ln/>
        </p:spPr>
        <p:txBody>
          <a:bodyPr wrap="square" lIns="0" tIns="0" rIns="0" bIns="0" rtlCol="0" anchor="ctr"/>
          <a:lstStyle/>
          <a:p>
            <a:pPr algn="ctr" indent="0" marL="0">
              <a:buNone/>
            </a:pPr>
            <a:r>
              <a:rPr lang="en-US" sz="800" b="1" dirty="0">
                <a:solidFill>
                  <a:srgbClr val="7B8792"/>
                </a:solidFill>
                <a:latin typeface="Courier New" pitchFamily="34" charset="0"/>
                <a:ea typeface="Courier New" pitchFamily="34" charset="-122"/>
                <a:cs typeface="Courier New" pitchFamily="34" charset="-120"/>
              </a:rPr>
              <a:t>二次情報</a:t>
            </a:r>
            <a:endParaRPr lang="en-US" sz="800" dirty="0"/>
          </a:p>
        </p:txBody>
      </p:sp>
      <p:sp>
        <p:nvSpPr>
          <p:cNvPr id="31" name="Shape 29"/>
          <p:cNvSpPr/>
          <p:nvPr/>
        </p:nvSpPr>
        <p:spPr>
          <a:xfrm>
            <a:off x="566928" y="4663440"/>
            <a:ext cx="11057839" cy="749808"/>
          </a:xfrm>
          <a:prstGeom prst="rect">
            <a:avLst/>
          </a:prstGeom>
          <a:solidFill>
            <a:srgbClr val="FBF1F0"/>
          </a:solidFill>
          <a:ln w="12700">
            <a:solidFill>
              <a:srgbClr val="AE3B33"/>
            </a:solidFill>
            <a:prstDash val="solid"/>
          </a:ln>
        </p:spPr>
      </p:sp>
      <p:sp>
        <p:nvSpPr>
          <p:cNvPr id="32" name="Text 30"/>
          <p:cNvSpPr txBox="1"/>
          <p:nvPr/>
        </p:nvSpPr>
        <p:spPr>
          <a:xfrm>
            <a:off x="804672" y="4736592"/>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ここが選定を左右する：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「エージェントに GUI アプリを触らせつつ、自分は同じマシンで作業を続けたい」という要件がある場合、現時点で成立するのは </a:t>
            </a:r>
            <a:pPr indent="0" marL="0">
              <a:lnSpc>
                <a:spcPct val="130000"/>
              </a:lnSpc>
              <a:buNone/>
            </a:pPr>
            <a:r>
              <a:rPr lang="en-US" sz="1050" b="1" dirty="0">
                <a:solidFill>
                  <a:srgbClr val="AE3B33"/>
                </a:solidFill>
                <a:latin typeface="Yu Gothic" pitchFamily="34" charset="0"/>
                <a:ea typeface="Yu Gothic" pitchFamily="34" charset="-122"/>
                <a:cs typeface="Yu Gothic" pitchFamily="34" charset="-120"/>
              </a:rPr>
              <a:t>macOS ＋ Codex の組み合わせだけ</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 です。Windows では前面占有が前提になります。</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WINDOWS 運用の要</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WSL の位置づけが両者で決定的に違う</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WSL POSITIONING</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14 / 17</a:t>
            </a:r>
            <a:endParaRPr lang="en-US" sz="900" dirty="0"/>
          </a:p>
        </p:txBody>
      </p:sp>
      <p:sp>
        <p:nvSpPr>
          <p:cNvPr id="7" name="Shape 5"/>
          <p:cNvSpPr/>
          <p:nvPr/>
        </p:nvSpPr>
        <p:spPr>
          <a:xfrm>
            <a:off x="566928" y="1371600"/>
            <a:ext cx="5391760" cy="2651760"/>
          </a:xfrm>
          <a:prstGeom prst="rect">
            <a:avLst/>
          </a:prstGeom>
          <a:solidFill>
            <a:srgbClr val="F2F5F7"/>
          </a:solidFill>
          <a:ln w="9525">
            <a:solidFill>
              <a:srgbClr val="D4DAE0"/>
            </a:solidFill>
            <a:prstDash val="solid"/>
          </a:ln>
        </p:spPr>
      </p:sp>
      <p:sp>
        <p:nvSpPr>
          <p:cNvPr id="8" name="Text 6"/>
          <p:cNvSpPr txBox="1"/>
          <p:nvPr/>
        </p:nvSpPr>
        <p:spPr>
          <a:xfrm>
            <a:off x="768096" y="1517904"/>
            <a:ext cx="4989424" cy="237744"/>
          </a:xfrm>
          <a:prstGeom prst="rect">
            <a:avLst/>
          </a:prstGeom>
          <a:noFill/>
          <a:ln/>
        </p:spPr>
        <p:txBody>
          <a:bodyPr wrap="square" lIns="0" tIns="0" rIns="0" bIns="0" rtlCol="0" anchor="ctr"/>
          <a:lstStyle/>
          <a:p>
            <a:pPr indent="0" marL="0">
              <a:buNone/>
            </a:pPr>
            <a:r>
              <a:rPr lang="en-US" sz="950" b="1" spc="120" kern="0" dirty="0">
                <a:solidFill>
                  <a:srgbClr val="0B5E78"/>
                </a:solidFill>
                <a:latin typeface="Courier New" pitchFamily="34" charset="0"/>
                <a:ea typeface="Courier New" pitchFamily="34" charset="-122"/>
                <a:cs typeface="Courier New" pitchFamily="34" charset="-120"/>
              </a:rPr>
              <a:t>CODEX にとっての WSL2</a:t>
            </a:r>
            <a:endParaRPr lang="en-US" sz="950" dirty="0"/>
          </a:p>
        </p:txBody>
      </p:sp>
      <p:sp>
        <p:nvSpPr>
          <p:cNvPr id="9" name="Text 7"/>
          <p:cNvSpPr txBox="1"/>
          <p:nvPr/>
        </p:nvSpPr>
        <p:spPr>
          <a:xfrm>
            <a:off x="768096" y="1828800"/>
            <a:ext cx="4989424" cy="2029968"/>
          </a:xfrm>
          <a:prstGeom prst="rect">
            <a:avLst/>
          </a:prstGeom>
          <a:noFill/>
          <a:ln/>
        </p:spPr>
        <p:txBody>
          <a:bodyPr wrap="square" lIns="0" tIns="0" rIns="0" bIns="0" rtlCol="0" anchor="t"/>
          <a:lstStyle/>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選択肢のひとつ。ネイティブ Windows サンドボックスがあるため必須ではない</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選ぶ理由：プロジェクトが Linux ツールチェーンに依存／リポジトリと開発フローが既に WSL2 内にある／ネイティブサンドボックスがどちらのモードでも動かない</a:t>
            </a:r>
            <a:endParaRPr lang="en-US" sz="1050" dirty="0"/>
          </a:p>
          <a:p>
            <a:pPr marL="342900" indent="-342900">
              <a:lnSpc>
                <a:spcPct val="134000"/>
              </a:lnSpc>
              <a:spcAft>
                <a:spcPts val="700"/>
              </a:spcAft>
              <a:buSzPct val="100000"/>
              <a:buChar char="–"/>
            </a:pPr>
            <a:r>
              <a:rPr lang="en-US" sz="1050" dirty="0">
                <a:solidFill>
                  <a:srgbClr val="4C5762"/>
                </a:solidFill>
                <a:latin typeface="Yu Gothic" pitchFamily="34" charset="0"/>
                <a:ea typeface="Yu Gothic" pitchFamily="34" charset="-122"/>
                <a:cs typeface="Yu Gothic" pitchFamily="34" charset="-120"/>
              </a:rPr>
              <a:t>公式の推奨は「既に WSL2 で開発しているのでなければ、まず Windows 用スタンドアロンインストーラから」</a:t>
            </a:r>
            <a:endParaRPr lang="en-US" sz="1050" dirty="0"/>
          </a:p>
        </p:txBody>
      </p:sp>
      <p:sp>
        <p:nvSpPr>
          <p:cNvPr id="10" name="Shape 8"/>
          <p:cNvSpPr/>
          <p:nvPr/>
        </p:nvSpPr>
        <p:spPr>
          <a:xfrm>
            <a:off x="6233008" y="1371600"/>
            <a:ext cx="5391760" cy="2651760"/>
          </a:xfrm>
          <a:prstGeom prst="rect">
            <a:avLst/>
          </a:prstGeom>
          <a:solidFill>
            <a:srgbClr val="FBF1F0"/>
          </a:solidFill>
          <a:ln w="12700">
            <a:solidFill>
              <a:srgbClr val="AE3B33"/>
            </a:solidFill>
            <a:prstDash val="solid"/>
          </a:ln>
        </p:spPr>
      </p:sp>
      <p:sp>
        <p:nvSpPr>
          <p:cNvPr id="11" name="Text 9"/>
          <p:cNvSpPr txBox="1"/>
          <p:nvPr/>
        </p:nvSpPr>
        <p:spPr>
          <a:xfrm>
            <a:off x="6434176" y="1517904"/>
            <a:ext cx="4989424" cy="237744"/>
          </a:xfrm>
          <a:prstGeom prst="rect">
            <a:avLst/>
          </a:prstGeom>
          <a:noFill/>
          <a:ln/>
        </p:spPr>
        <p:txBody>
          <a:bodyPr wrap="square" lIns="0" tIns="0" rIns="0" bIns="0" rtlCol="0" anchor="ctr"/>
          <a:lstStyle/>
          <a:p>
            <a:pPr indent="0" marL="0">
              <a:buNone/>
            </a:pPr>
            <a:r>
              <a:rPr lang="en-US" sz="950" b="1" spc="120" kern="0" dirty="0">
                <a:solidFill>
                  <a:srgbClr val="AE3B33"/>
                </a:solidFill>
                <a:latin typeface="Courier New" pitchFamily="34" charset="0"/>
                <a:ea typeface="Courier New" pitchFamily="34" charset="-122"/>
                <a:cs typeface="Courier New" pitchFamily="34" charset="-120"/>
              </a:rPr>
              <a:t>CLAUDE CODE にとっての WSL2</a:t>
            </a:r>
            <a:endParaRPr lang="en-US" sz="950" dirty="0"/>
          </a:p>
        </p:txBody>
      </p:sp>
      <p:sp>
        <p:nvSpPr>
          <p:cNvPr id="12" name="Text 10"/>
          <p:cNvSpPr txBox="1"/>
          <p:nvPr/>
        </p:nvSpPr>
        <p:spPr>
          <a:xfrm>
            <a:off x="6434176" y="1847088"/>
            <a:ext cx="4989424" cy="2048256"/>
          </a:xfrm>
          <a:prstGeom prst="rect">
            <a:avLst/>
          </a:prstGeom>
          <a:noFill/>
          <a:ln/>
        </p:spPr>
        <p:txBody>
          <a:bodyPr wrap="square" lIns="0" tIns="0" rIns="0" bIns="0" rtlCol="0" anchor="t"/>
          <a:lstStyle/>
          <a:p>
            <a:pPr indent="0" marL="0">
              <a:lnSpc>
                <a:spcPct val="132000"/>
              </a:lnSpc>
              <a:buNone/>
            </a:pPr>
            <a:r>
              <a:rPr lang="en-US" sz="1100" b="1" dirty="0">
                <a:solidFill>
                  <a:srgbClr val="AE3B33"/>
                </a:solidFill>
                <a:latin typeface="Yu Gothic" pitchFamily="34" charset="0"/>
                <a:ea typeface="Yu Gothic" pitchFamily="34" charset="-122"/>
                <a:cs typeface="Yu Gothic" pitchFamily="34" charset="-120"/>
              </a:rPr>
              <a:t>Windows でサンドボックスを使うための唯一の道。</a:t>
            </a:r>
            <a:endParaRPr lang="en-US" sz="1100" dirty="0"/>
          </a:p>
          <a:p>
            <a:pPr indent="0" marL="0">
              <a:lnSpc>
                <a:spcPct val="132000"/>
              </a:lnSpc>
              <a:buNone/>
            </a:pPr>
            <a:r>
              <a:rPr lang="en-US" sz="1050" dirty="0">
                <a:solidFill>
                  <a:srgbClr val="4C5762"/>
                </a:solidFill>
                <a:latin typeface="Yu Gothic" pitchFamily="34" charset="0"/>
                <a:ea typeface="Yu Gothic" pitchFamily="34" charset="-122"/>
                <a:cs typeface="Yu Gothic" pitchFamily="34" charset="-120"/>
              </a:rPr>
              <a:t>ネイティブ Windows には代替実装が存在しません。</a:t>
            </a:r>
            <a:endParaRPr lang="en-US" sz="1100" dirty="0"/>
          </a:p>
          <a:p>
            <a:pPr indent="0" marL="0">
              <a:lnSpc>
                <a:spcPct val="132000"/>
              </a:lnSpc>
              <a:buNone/>
            </a:pPr>
            <a:endParaRPr lang="en-US" sz="1100" dirty="0"/>
          </a:p>
          <a:p>
            <a:pPr indent="0" marL="0">
              <a:lnSpc>
                <a:spcPct val="132000"/>
              </a:lnSpc>
              <a:buNone/>
            </a:pPr>
            <a:r>
              <a:rPr lang="en-US" sz="1050" dirty="0">
                <a:solidFill>
                  <a:srgbClr val="4C5762"/>
                </a:solidFill>
                <a:latin typeface="Yu Gothic" pitchFamily="34" charset="0"/>
                <a:ea typeface="Yu Gothic" pitchFamily="34" charset="-122"/>
                <a:cs typeface="Yu Gothic" pitchFamily="34" charset="-120"/>
              </a:rPr>
              <a:t>デスクトップアプリからも WSL セッションを選択でき、Claude Code 本体・ツール・git がすべて distro 内で動きます。</a:t>
            </a:r>
            <a:endParaRPr lang="en-US" sz="1100" dirty="0"/>
          </a:p>
          <a:p>
            <a:pPr indent="0" marL="0">
              <a:lnSpc>
                <a:spcPct val="132000"/>
              </a:lnSpc>
              <a:buNone/>
            </a:pPr>
            <a:endParaRPr lang="en-US" sz="1100" dirty="0"/>
          </a:p>
          <a:p>
            <a:pPr indent="0" marL="0">
              <a:lnSpc>
                <a:spcPct val="132000"/>
              </a:lnSpc>
              <a:buNone/>
            </a:pPr>
            <a:r>
              <a:rPr lang="en-US" sz="1050" b="1" dirty="0">
                <a:solidFill>
                  <a:srgbClr val="111820"/>
                </a:solidFill>
                <a:latin typeface="Yu Gothic" pitchFamily="34" charset="0"/>
                <a:ea typeface="Yu Gothic" pitchFamily="34" charset="-122"/>
                <a:cs typeface="Yu Gothic" pitchFamily="34" charset="-120"/>
              </a:rPr>
              <a:t>WSL セッションでまだ使えない機能：</a:t>
            </a:r>
            <a:endParaRPr lang="en-US" sz="1100" dirty="0"/>
          </a:p>
          <a:p>
            <a:pPr indent="0" marL="0">
              <a:lnSpc>
                <a:spcPct val="132000"/>
              </a:lnSpc>
              <a:buNone/>
            </a:pPr>
            <a:r>
              <a:rPr lang="en-US" sz="1050" dirty="0">
                <a:solidFill>
                  <a:srgbClr val="4C5762"/>
                </a:solidFill>
                <a:latin typeface="Yu Gothic" pitchFamily="34" charset="0"/>
                <a:ea typeface="Yu Gothic" pitchFamily="34" charset="-122"/>
                <a:cs typeface="Yu Gothic" pitchFamily="34" charset="-120"/>
              </a:rPr>
              <a:t>統合ターミナル／コネクタとプラグイン／セッションのフォーク／ファイルブラウザペイン／@ のファイル補完。組織管理端末では WSL セッション自体が無効化されている場合もあります。</a:t>
            </a:r>
            <a:endParaRPr lang="en-US" sz="1100" dirty="0"/>
          </a:p>
        </p:txBody>
      </p:sp>
      <p:sp>
        <p:nvSpPr>
          <p:cNvPr id="13" name="Shape 11"/>
          <p:cNvSpPr/>
          <p:nvPr/>
        </p:nvSpPr>
        <p:spPr>
          <a:xfrm>
            <a:off x="566928" y="4261104"/>
            <a:ext cx="11057839" cy="749808"/>
          </a:xfrm>
          <a:prstGeom prst="rect">
            <a:avLst/>
          </a:prstGeom>
          <a:solidFill>
            <a:srgbClr val="F2F5F7"/>
          </a:solidFill>
          <a:ln w="9525">
            <a:solidFill>
              <a:srgbClr val="D4DAE0"/>
            </a:solidFill>
            <a:prstDash val="solid"/>
          </a:ln>
        </p:spPr>
      </p:sp>
      <p:sp>
        <p:nvSpPr>
          <p:cNvPr id="14" name="Text 12"/>
          <p:cNvSpPr txBox="1"/>
          <p:nvPr/>
        </p:nvSpPr>
        <p:spPr>
          <a:xfrm>
            <a:off x="804672" y="4334256"/>
            <a:ext cx="10582351" cy="603504"/>
          </a:xfrm>
          <a:prstGeom prst="rect">
            <a:avLst/>
          </a:prstGeom>
          <a:noFill/>
          <a:ln/>
        </p:spPr>
        <p:txBody>
          <a:bodyPr wrap="square" lIns="0" tIns="0" rIns="0" bIns="0" rtlCol="0" anchor="ctr"/>
          <a:lstStyle/>
          <a:p>
            <a:pPr indent="0" marL="0">
              <a:lnSpc>
                <a:spcPct val="130000"/>
              </a:lnSpc>
              <a:buNone/>
            </a:pPr>
            <a:r>
              <a:rPr lang="en-US" sz="1050" b="1" dirty="0">
                <a:solidFill>
                  <a:srgbClr val="111820"/>
                </a:solidFill>
                <a:latin typeface="Yu Gothic" pitchFamily="34" charset="0"/>
                <a:ea typeface="Yu Gothic" pitchFamily="34" charset="-122"/>
                <a:cs typeface="Yu Gothic" pitchFamily="34" charset="-120"/>
              </a:rPr>
              <a:t>両者共通の注意： </a:t>
            </a:r>
            <a:pPr indent="0" marL="0">
              <a:lnSpc>
                <a:spcPct val="130000"/>
              </a:lnSpc>
              <a:buNone/>
            </a:pPr>
            <a:r>
              <a:rPr lang="en-US" sz="1050" dirty="0">
                <a:solidFill>
                  <a:srgbClr val="4C5762"/>
                </a:solidFill>
                <a:latin typeface="Yu Gothic" pitchFamily="34" charset="0"/>
                <a:ea typeface="Yu Gothic" pitchFamily="34" charset="-122"/>
                <a:cs typeface="Yu Gothic" pitchFamily="34" charset="-120"/>
              </a:rPr>
              <a:t>リポジトリを /mnt/c/... （Windows 側のディスク）に置くと、ネットワークファイルシステム経由になり I/O が遅く、ファイル監視も壊れます。WSL を使うならリポジトリは distro 内のファイルシステムに置くのが前提です。</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日々の操作感</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ターミナル体験の差（Claude Code CLI）</a:t>
            </a:r>
            <a:endParaRPr lang="en-US" sz="2600" dirty="0"/>
          </a:p>
        </p:txBody>
      </p:sp>
      <p:sp>
        <p:nvSpPr>
          <p:cNvPr id="4" name="Text 2"/>
          <p:cNvSpPr txBox="1"/>
          <p:nvPr/>
        </p:nvSpPr>
        <p:spPr>
          <a:xfrm>
            <a:off x="566928" y="1216152"/>
            <a:ext cx="11057839" cy="384048"/>
          </a:xfrm>
          <a:prstGeom prst="rect">
            <a:avLst/>
          </a:prstGeom>
          <a:noFill/>
          <a:ln/>
        </p:spPr>
        <p:txBody>
          <a:bodyPr wrap="square" lIns="0" tIns="0" rIns="0" bIns="0" rtlCol="0" anchor="t"/>
          <a:lstStyle/>
          <a:p>
            <a:pPr indent="0" marL="0">
              <a:lnSpc>
                <a:spcPct val="130000"/>
              </a:lnSpc>
              <a:buNone/>
            </a:pPr>
            <a:r>
              <a:rPr lang="en-US" sz="1200" dirty="0">
                <a:solidFill>
                  <a:srgbClr val="4C5762"/>
                </a:solidFill>
                <a:latin typeface="Yu Gothic" pitchFamily="34" charset="0"/>
                <a:ea typeface="Yu Gothic" pitchFamily="34" charset="-122"/>
                <a:cs typeface="Yu Gothic" pitchFamily="34" charset="-120"/>
              </a:rPr>
              <a:t>意外にも Shift+Enter は Windows Terminal のほうが素直に動きます。逆に macOS には Option キーという固有の設定が必要です。</a:t>
            </a:r>
            <a:endParaRPr lang="en-US" sz="1200" dirty="0"/>
          </a:p>
        </p:txBody>
      </p:sp>
      <p:sp>
        <p:nvSpPr>
          <p:cNvPr id="5" name="Shape 3"/>
          <p:cNvSpPr/>
          <p:nvPr/>
        </p:nvSpPr>
        <p:spPr>
          <a:xfrm>
            <a:off x="566928" y="6327648"/>
            <a:ext cx="11057839" cy="0"/>
          </a:xfrm>
          <a:prstGeom prst="line">
            <a:avLst/>
          </a:prstGeom>
          <a:noFill/>
          <a:ln w="9525">
            <a:solidFill>
              <a:srgbClr val="D4DAE0"/>
            </a:solidFill>
            <a:prstDash val="solid"/>
          </a:ln>
        </p:spPr>
      </p:sp>
      <p:sp>
        <p:nvSpPr>
          <p:cNvPr id="6" name="Text 4"/>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TERMINAL EXPERIENCE</a:t>
            </a:r>
            <a:endParaRPr lang="en-US" sz="900" dirty="0"/>
          </a:p>
        </p:txBody>
      </p:sp>
      <p:sp>
        <p:nvSpPr>
          <p:cNvPr id="7" name="Text 5"/>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15 / 17</a:t>
            </a:r>
            <a:endParaRPr lang="en-US" sz="900" dirty="0"/>
          </a:p>
        </p:txBody>
      </p:sp>
      <p:sp>
        <p:nvSpPr>
          <p:cNvPr id="8" name="Text 6"/>
          <p:cNvSpPr txBox="1"/>
          <p:nvPr/>
        </p:nvSpPr>
        <p:spPr>
          <a:xfrm>
            <a:off x="566928" y="1828800"/>
            <a:ext cx="5346040" cy="237744"/>
          </a:xfrm>
          <a:prstGeom prst="rect">
            <a:avLst/>
          </a:prstGeom>
          <a:noFill/>
          <a:ln/>
        </p:spPr>
        <p:txBody>
          <a:bodyPr wrap="square" lIns="0" tIns="0" rIns="0" bIns="0" rtlCol="0" anchor="ctr"/>
          <a:lstStyle/>
          <a:p>
            <a:pPr indent="0" marL="0">
              <a:buNone/>
            </a:pPr>
            <a:r>
              <a:rPr lang="en-US" sz="950" b="1" spc="120" kern="0" dirty="0">
                <a:solidFill>
                  <a:srgbClr val="7B8792"/>
                </a:solidFill>
                <a:latin typeface="Courier New" pitchFamily="34" charset="0"/>
                <a:ea typeface="Courier New" pitchFamily="34" charset="-122"/>
                <a:cs typeface="Courier New" pitchFamily="34" charset="-120"/>
              </a:rPr>
              <a:t>SHIFT+ENTER で改行できるか</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5346040" cy="914400"/>
        </p:xfrm>
        <a:graphic>
          <a:graphicData uri="http://schemas.openxmlformats.org/drawingml/2006/table">
            <a:tbl>
              <a:tblPr/>
              <a:tblGrid>
                <a:gridCol w="3314545"/>
                <a:gridCol w="2031495"/>
              </a:tblGrid>
              <a:tr h="566928">
                <a:tc>
                  <a:txBody>
                    <a:bodyPr/>
                    <a:lstStyle/>
                    <a:p>
                      <a:pPr indent="0" marL="0">
                        <a:buNone/>
                      </a:pPr>
                      <a:r>
                        <a:rPr lang="en-US" sz="1000" dirty="0">
                          <a:solidFill>
                            <a:srgbClr val="111820"/>
                          </a:solidFill>
                          <a:latin typeface="Yu Gothic" pitchFamily="34" charset="0"/>
                          <a:ea typeface="Yu Gothic" pitchFamily="34" charset="-122"/>
                          <a:cs typeface="Yu Gothic" pitchFamily="34" charset="-120"/>
                        </a:rPr>
                        <a:t>Ghostty / Kitty / iTerm2 / WezTerm / Warp /</a:t>
                      </a:r>
                      <a:endParaRPr lang="en-US" sz="1000" dirty="0">
                        <a:latin typeface="Yu Gothic" charset="0"/>
                        <a:ea typeface="Yu Gothic" charset="0"/>
                        <a:cs typeface="Yu Gothic" charset="0"/>
                      </a:endParaRPr>
                    </a:p>
                    <a:p>
                      <a:pPr indent="0" marL="0">
                        <a:buNone/>
                      </a:pPr>
                      <a:r>
                        <a:rPr lang="en-US" sz="1000" dirty="0">
                          <a:solidFill>
                            <a:srgbClr val="111820"/>
                          </a:solidFill>
                          <a:latin typeface="Yu Gothic" pitchFamily="34" charset="0"/>
                          <a:ea typeface="Yu Gothic" pitchFamily="34" charset="-122"/>
                          <a:cs typeface="Yu Gothic" pitchFamily="34" charset="-120"/>
                        </a:rPr>
                        <a:t>Apple Terminal / Windows Terminal</a:t>
                      </a:r>
                      <a:endParaRPr lang="en-US" sz="1000" dirty="0">
                        <a:latin typeface="Yu Gothic" charset="0"/>
                        <a:ea typeface="Yu Gothic" charset="0"/>
                        <a:cs typeface="Yu Gothic"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c>
                  <a:txBody>
                    <a:bodyPr/>
                    <a:lstStyle/>
                    <a:p>
                      <a:pPr indent="0" marL="0">
                        <a:buNone/>
                      </a:pPr>
                      <a:r>
                        <a:rPr lang="en-US" sz="1000" b="1" dirty="0">
                          <a:solidFill>
                            <a:srgbClr val="2C7A50"/>
                          </a:solidFill>
                          <a:latin typeface="Yu Gothic" pitchFamily="34" charset="0"/>
                          <a:ea typeface="Yu Gothic" pitchFamily="34" charset="-122"/>
                          <a:cs typeface="Yu Gothic" pitchFamily="34" charset="-120"/>
                        </a:rPr>
                        <a:t>● 設定不要</a:t>
                      </a:r>
                      <a:endParaRPr lang="en-US" sz="1000" dirty="0">
                        <a:latin typeface="Yu Gothic" charset="0"/>
                        <a:ea typeface="Yu Gothic" charset="0"/>
                        <a:cs typeface="Yu Gothic"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11820"/>
                          </a:solidFill>
                          <a:latin typeface="Yu Gothic" pitchFamily="34" charset="0"/>
                          <a:ea typeface="Yu Gothic" pitchFamily="34" charset="-122"/>
                          <a:cs typeface="Yu Gothic" pitchFamily="34" charset="-120"/>
                        </a:rPr>
                        <a:t>VS Code / Cursor / Devin Desktop /</a:t>
                      </a:r>
                      <a:endParaRPr lang="en-US" sz="1000" dirty="0">
                        <a:latin typeface="Yu Gothic" charset="0"/>
                        <a:ea typeface="Yu Gothic" charset="0"/>
                        <a:cs typeface="Yu Gothic" charset="0"/>
                      </a:endParaRPr>
                    </a:p>
                    <a:p>
                      <a:pPr indent="0" marL="0">
                        <a:buNone/>
                      </a:pPr>
                      <a:r>
                        <a:rPr lang="en-US" sz="1000" dirty="0">
                          <a:solidFill>
                            <a:srgbClr val="111820"/>
                          </a:solidFill>
                          <a:latin typeface="Yu Gothic" pitchFamily="34" charset="0"/>
                          <a:ea typeface="Yu Gothic" pitchFamily="34" charset="-122"/>
                          <a:cs typeface="Yu Gothic" pitchFamily="34" charset="-120"/>
                        </a:rPr>
                        <a:t>Alacritty / Zed</a:t>
                      </a:r>
                      <a:endParaRPr lang="en-US" sz="1000" dirty="0">
                        <a:latin typeface="Yu Gothic" charset="0"/>
                        <a:ea typeface="Yu Gothic" charset="0"/>
                        <a:cs typeface="Yu Gothic"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c>
                  <a:txBody>
                    <a:bodyPr/>
                    <a:lstStyle/>
                    <a:p>
                      <a:pPr indent="0" marL="0">
                        <a:buNone/>
                      </a:pPr>
                      <a:r>
                        <a:rPr lang="en-US" sz="1000" b="1" dirty="0">
                          <a:solidFill>
                            <a:srgbClr val="4C5762"/>
                          </a:solidFill>
                          <a:latin typeface="Yu Gothic" pitchFamily="34" charset="0"/>
                          <a:ea typeface="Yu Gothic" pitchFamily="34" charset="-122"/>
                          <a:cs typeface="Yu Gothic" pitchFamily="34" charset="-120"/>
                        </a:rPr>
                        <a:t>○ /terminal-setup</a:t>
                      </a:r>
                      <a:endParaRPr lang="en-US" sz="1000" dirty="0">
                        <a:latin typeface="Yu Gothic" charset="0"/>
                        <a:ea typeface="Yu Gothic" charset="0"/>
                        <a:cs typeface="Yu Gothic"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r h="420624">
                <a:tc>
                  <a:txBody>
                    <a:bodyPr/>
                    <a:lstStyle/>
                    <a:p>
                      <a:pPr indent="0" marL="0">
                        <a:buNone/>
                      </a:pPr>
                      <a:r>
                        <a:rPr lang="en-US" sz="1000" dirty="0">
                          <a:solidFill>
                            <a:srgbClr val="111820"/>
                          </a:solidFill>
                          <a:latin typeface="Yu Gothic" pitchFamily="34" charset="0"/>
                          <a:ea typeface="Yu Gothic" pitchFamily="34" charset="-122"/>
                          <a:cs typeface="Yu Gothic" pitchFamily="34" charset="-120"/>
                        </a:rPr>
                        <a:t>gnome-terminal / JetBrains 系（PyCharm 等）</a:t>
                      </a:r>
                      <a:endParaRPr lang="en-US" sz="1000" dirty="0">
                        <a:latin typeface="Yu Gothic" charset="0"/>
                        <a:ea typeface="Yu Gothic" charset="0"/>
                        <a:cs typeface="Yu Gothic"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c>
                  <a:txBody>
                    <a:bodyPr/>
                    <a:lstStyle/>
                    <a:p>
                      <a:pPr indent="0" marL="0">
                        <a:buNone/>
                      </a:pPr>
                      <a:r>
                        <a:rPr lang="en-US" sz="1000" b="1" dirty="0">
                          <a:solidFill>
                            <a:srgbClr val="AE3B33"/>
                          </a:solidFill>
                          <a:latin typeface="Yu Gothic" pitchFamily="34" charset="0"/>
                          <a:ea typeface="Yu Gothic" pitchFamily="34" charset="-122"/>
                          <a:cs typeface="Yu Gothic" pitchFamily="34" charset="-120"/>
                        </a:rPr>
                        <a:t>✕ 不可</a:t>
                      </a:r>
                      <a:endParaRPr lang="en-US" sz="1000" dirty="0">
                        <a:latin typeface="Yu Gothic" charset="0"/>
                        <a:ea typeface="Yu Gothic" charset="0"/>
                        <a:cs typeface="Yu Gothic"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66928" y="3840480"/>
            <a:ext cx="5346040" cy="384048"/>
          </a:xfrm>
          <a:prstGeom prst="rect">
            <a:avLst/>
          </a:prstGeom>
          <a:noFill/>
          <a:ln/>
        </p:spPr>
        <p:txBody>
          <a:bodyPr wrap="square" lIns="0" tIns="0" rIns="0" bIns="0" rtlCol="0" anchor="t"/>
          <a:lstStyle/>
          <a:p>
            <a:pPr indent="0" marL="0">
              <a:lnSpc>
                <a:spcPct val="125000"/>
              </a:lnSpc>
              <a:buNone/>
            </a:pPr>
            <a:r>
              <a:rPr lang="en-US" sz="900" b="1" dirty="0">
                <a:solidFill>
                  <a:srgbClr val="4C5762"/>
                </a:solidFill>
                <a:latin typeface="Yu Gothic" pitchFamily="34" charset="0"/>
                <a:ea typeface="Yu Gothic" pitchFamily="34" charset="-122"/>
                <a:cs typeface="Yu Gothic" pitchFamily="34" charset="-120"/>
              </a:rPr>
              <a:t>共通の代替： </a:t>
            </a:r>
            <a:pPr indent="0" marL="0">
              <a:lnSpc>
                <a:spcPct val="125000"/>
              </a:lnSpc>
              <a:buNone/>
            </a:pPr>
            <a:r>
              <a:rPr lang="en-US" sz="900" dirty="0">
                <a:solidFill>
                  <a:srgbClr val="7B8792"/>
                </a:solidFill>
                <a:latin typeface="Yu Gothic" pitchFamily="34" charset="0"/>
                <a:ea typeface="Yu Gothic" pitchFamily="34" charset="-122"/>
                <a:cs typeface="Yu Gothic" pitchFamily="34" charset="-120"/>
              </a:rPr>
              <a:t>Ctrl+J、または \ を打ってから Enter。どのターミナルでも設定なしで動きます。</a:t>
            </a:r>
            <a:endParaRPr lang="en-US" sz="900" dirty="0"/>
          </a:p>
        </p:txBody>
      </p:sp>
      <p:sp>
        <p:nvSpPr>
          <p:cNvPr id="11" name="Shape 8"/>
          <p:cNvSpPr/>
          <p:nvPr/>
        </p:nvSpPr>
        <p:spPr>
          <a:xfrm>
            <a:off x="6095848" y="1828800"/>
            <a:ext cx="0" cy="2468880"/>
          </a:xfrm>
          <a:prstGeom prst="line">
            <a:avLst/>
          </a:prstGeom>
          <a:noFill/>
          <a:ln w="9525">
            <a:solidFill>
              <a:srgbClr val="D4DAE0"/>
            </a:solidFill>
            <a:prstDash val="solid"/>
          </a:ln>
        </p:spPr>
      </p:sp>
      <p:sp>
        <p:nvSpPr>
          <p:cNvPr id="12" name="Text 9"/>
          <p:cNvSpPr txBox="1"/>
          <p:nvPr/>
        </p:nvSpPr>
        <p:spPr>
          <a:xfrm>
            <a:off x="6278728" y="1828800"/>
            <a:ext cx="5163160" cy="237744"/>
          </a:xfrm>
          <a:prstGeom prst="rect">
            <a:avLst/>
          </a:prstGeom>
          <a:noFill/>
          <a:ln/>
        </p:spPr>
        <p:txBody>
          <a:bodyPr wrap="square" lIns="0" tIns="0" rIns="0" bIns="0" rtlCol="0" anchor="ctr"/>
          <a:lstStyle/>
          <a:p>
            <a:pPr indent="0" marL="0">
              <a:buNone/>
            </a:pPr>
            <a:r>
              <a:rPr lang="en-US" sz="950" b="1" spc="120" kern="0" dirty="0">
                <a:solidFill>
                  <a:srgbClr val="7B8792"/>
                </a:solidFill>
                <a:latin typeface="Courier New" pitchFamily="34" charset="0"/>
                <a:ea typeface="Courier New" pitchFamily="34" charset="-122"/>
                <a:cs typeface="Courier New" pitchFamily="34" charset="-120"/>
              </a:rPr>
              <a:t>OS 固有の設定</a:t>
            </a:r>
            <a:endParaRPr lang="en-US" sz="950" dirty="0"/>
          </a:p>
        </p:txBody>
      </p:sp>
      <p:sp>
        <p:nvSpPr>
          <p:cNvPr id="13" name="Text 10"/>
          <p:cNvSpPr txBox="1"/>
          <p:nvPr/>
        </p:nvSpPr>
        <p:spPr>
          <a:xfrm>
            <a:off x="6278728" y="2157984"/>
            <a:ext cx="5163160" cy="1097280"/>
          </a:xfrm>
          <a:prstGeom prst="rect">
            <a:avLst/>
          </a:prstGeom>
          <a:noFill/>
          <a:ln/>
        </p:spPr>
        <p:txBody>
          <a:bodyPr wrap="square" lIns="0" tIns="0" rIns="0" bIns="0" rtlCol="0" anchor="t"/>
          <a:lstStyle/>
          <a:p>
            <a:pPr indent="0" marL="0">
              <a:lnSpc>
                <a:spcPct val="134000"/>
              </a:lnSpc>
              <a:buNone/>
            </a:pPr>
            <a:r>
              <a:rPr lang="en-US" sz="1150" b="1" dirty="0">
                <a:solidFill>
                  <a:srgbClr val="111820"/>
                </a:solidFill>
                <a:latin typeface="Yu Gothic" pitchFamily="34" charset="0"/>
                <a:ea typeface="Yu Gothic" pitchFamily="34" charset="-122"/>
                <a:cs typeface="Yu Gothic" pitchFamily="34" charset="-120"/>
              </a:rPr>
              <a:t>macOS：Option キーがメタキーにならない</a:t>
            </a:r>
            <a:endParaRPr lang="en-US" sz="1150" dirty="0"/>
          </a:p>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Option+Enter（改行）や Option+P（モデル切替）などが既定では効きません。Apple Terminal は「Use Option as Meta Key」を有効化、iTerm2 は Left/Right Option を「Esc+」に設定します。Windows にはこの手間がありません。</a:t>
            </a:r>
            <a:endParaRPr lang="en-US" sz="1150" dirty="0"/>
          </a:p>
        </p:txBody>
      </p:sp>
      <p:sp>
        <p:nvSpPr>
          <p:cNvPr id="14" name="Text 11"/>
          <p:cNvSpPr txBox="1"/>
          <p:nvPr/>
        </p:nvSpPr>
        <p:spPr>
          <a:xfrm>
            <a:off x="6278728" y="3310128"/>
            <a:ext cx="5163160" cy="1234440"/>
          </a:xfrm>
          <a:prstGeom prst="rect">
            <a:avLst/>
          </a:prstGeom>
          <a:noFill/>
          <a:ln/>
        </p:spPr>
        <p:txBody>
          <a:bodyPr wrap="square" lIns="0" tIns="0" rIns="0" bIns="0" rtlCol="0" anchor="t"/>
          <a:lstStyle/>
          <a:p>
            <a:pPr indent="0" marL="0">
              <a:lnSpc>
                <a:spcPct val="134000"/>
              </a:lnSpc>
              <a:buNone/>
            </a:pPr>
            <a:r>
              <a:rPr lang="en-US" sz="1150" b="1" dirty="0">
                <a:solidFill>
                  <a:srgbClr val="111820"/>
                </a:solidFill>
                <a:latin typeface="Yu Gothic" pitchFamily="34" charset="0"/>
                <a:ea typeface="Yu Gothic" pitchFamily="34" charset="-122"/>
                <a:cs typeface="Yu Gothic" pitchFamily="34" charset="-120"/>
              </a:rPr>
              <a:t>デスクトップ通知が出るターミナルが限られる</a:t>
            </a:r>
            <a:endParaRPr lang="en-US" sz="1150" dirty="0"/>
          </a:p>
          <a:p>
            <a:pPr indent="0" marL="0">
              <a:lnSpc>
                <a:spcPct val="134000"/>
              </a:lnSpc>
              <a:buNone/>
            </a:pPr>
            <a:r>
              <a:rPr lang="en-US" sz="1050" dirty="0">
                <a:solidFill>
                  <a:srgbClr val="4C5762"/>
                </a:solidFill>
                <a:latin typeface="Yu Gothic" pitchFamily="34" charset="0"/>
                <a:ea typeface="Yu Gothic" pitchFamily="34" charset="-122"/>
                <a:cs typeface="Yu Gothic" pitchFamily="34" charset="-120"/>
              </a:rPr>
              <a:t> 既定でデスクトップ通知が届くのは Ghostty / Kitty / iTerm2 のみ。それ以外は preferredNotifChannel: "terminal_bell" にするか Notification フックを設定します。この 3 つは macOS で使われることが多く、結果として通知体験は macOS 側が有利になりがちです。</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B8792"/>
                </a:solidFill>
                <a:latin typeface="Courier New" pitchFamily="34" charset="0"/>
                <a:ea typeface="Courier New" pitchFamily="34" charset="-122"/>
                <a:cs typeface="Courier New" pitchFamily="34" charset="-120"/>
              </a:rPr>
              <a:t>選定ガイド</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111820"/>
                </a:solidFill>
                <a:latin typeface="Yu Gothic" pitchFamily="34" charset="0"/>
                <a:ea typeface="Yu Gothic" pitchFamily="34" charset="-122"/>
                <a:cs typeface="Yu Gothic" pitchFamily="34" charset="-120"/>
              </a:rPr>
              <a:t>要件から逆引きする</a:t>
            </a:r>
            <a:endParaRPr lang="en-US" sz="2600" dirty="0"/>
          </a:p>
        </p:txBody>
      </p:sp>
      <p:sp>
        <p:nvSpPr>
          <p:cNvPr id="4" name="Shape 2"/>
          <p:cNvSpPr/>
          <p:nvPr/>
        </p:nvSpPr>
        <p:spPr>
          <a:xfrm>
            <a:off x="566928" y="6327648"/>
            <a:ext cx="11057839" cy="0"/>
          </a:xfrm>
          <a:prstGeom prst="line">
            <a:avLst/>
          </a:prstGeom>
          <a:noFill/>
          <a:ln w="9525">
            <a:solidFill>
              <a:srgbClr val="D4DAE0"/>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B8792"/>
                </a:solidFill>
                <a:latin typeface="Courier New" pitchFamily="34" charset="0"/>
                <a:ea typeface="Courier New" pitchFamily="34" charset="-122"/>
                <a:cs typeface="Courier New" pitchFamily="34" charset="-120"/>
              </a:rPr>
              <a:t>DECISION GUIDE</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4C5762"/>
                </a:solidFill>
                <a:latin typeface="Courier New" pitchFamily="34" charset="0"/>
                <a:ea typeface="Courier New" pitchFamily="34" charset="-122"/>
                <a:cs typeface="Courier New" pitchFamily="34" charset="-120"/>
              </a:rPr>
              <a:t>16 / 17</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3474720"/>
                <a:gridCol w="1783080"/>
                <a:gridCol w="5797296"/>
              </a:tblGrid>
              <a:tr h="310896">
                <a:tc>
                  <a:txBody>
                    <a:bodyPr/>
                    <a:lstStyle/>
                    <a:p>
                      <a:pPr indent="0" marL="0">
                        <a:buNone/>
                      </a:pPr>
                      <a:r>
                        <a:rPr lang="en-US" sz="950" b="1" dirty="0">
                          <a:solidFill>
                            <a:srgbClr val="7B8792"/>
                          </a:solidFill>
                          <a:latin typeface="Courier New" pitchFamily="34" charset="0"/>
                          <a:ea typeface="Courier New" pitchFamily="34" charset="-122"/>
                          <a:cs typeface="Courier New" pitchFamily="34" charset="-120"/>
                        </a:rPr>
                        <a:t>要件</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7B8792"/>
                          </a:solidFill>
                          <a:latin typeface="Courier New" pitchFamily="34" charset="0"/>
                          <a:ea typeface="Courier New" pitchFamily="34" charset="-122"/>
                          <a:cs typeface="Courier New" pitchFamily="34" charset="-120"/>
                        </a:rPr>
                        <a:t>推奨</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c>
                  <a:txBody>
                    <a:bodyPr/>
                    <a:lstStyle/>
                    <a:p>
                      <a:pPr indent="0" marL="0">
                        <a:buNone/>
                      </a:pPr>
                      <a:r>
                        <a:rPr lang="en-US" sz="950" b="1" dirty="0">
                          <a:solidFill>
                            <a:srgbClr val="7B8792"/>
                          </a:solidFill>
                          <a:latin typeface="Courier New" pitchFamily="34" charset="0"/>
                          <a:ea typeface="Courier New" pitchFamily="34" charset="-122"/>
                          <a:cs typeface="Courier New" pitchFamily="34" charset="-120"/>
                        </a:rPr>
                        <a:t>理由と条件</a:t>
                      </a:r>
                      <a:endParaRPr lang="en-US" sz="950" dirty="0">
                        <a:latin typeface="Courier New" charset="0"/>
                        <a:ea typeface="Courier New" charset="0"/>
                        <a:cs typeface="Courier New" charset="0"/>
                      </a:endParaRPr>
                    </a:p>
                  </a:txBody>
                  <a:tcPr marL="101600" marR="1016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E7ECF0"/>
                    </a:solidFill>
                  </a:tcPr>
                </a:tc>
              </a:tr>
              <a:tr h="786384">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Windows ネイティブのまま、エージェントに強い隔離をかけたい</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b="1" dirty="0">
                          <a:solidFill>
                            <a:srgbClr val="0B5E78"/>
                          </a:solidFill>
                          <a:latin typeface="Courier New" pitchFamily="34" charset="0"/>
                          <a:ea typeface="Courier New" pitchFamily="34" charset="-122"/>
                          <a:cs typeface="Courier New" pitchFamily="34" charset="-120"/>
                        </a:rPr>
                        <a:t>Codex</a:t>
                      </a:r>
                      <a:endParaRPr lang="en-US" sz="1000" dirty="0">
                        <a:latin typeface="Courier New" charset="0"/>
                        <a:ea typeface="Courier New" charset="0"/>
                        <a:cs typeface="Courier New"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ネイティブ Windows サンドボックスを持つのは Codex のみ。管理者権限が取れるなら elevated でファイアウォールによるネットワーク隔離まで効く。Claude Code を使うなら WSL2 に寄せる。</a:t>
                      </a:r>
                      <a:endParaRPr lang="en-US" sz="10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r>
              <a:tr h="658368">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Windows で Linux ツールチェーン（Docker / Node / Python）を使う</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c>
                  <a:txBody>
                    <a:bodyPr/>
                    <a:lstStyle/>
                    <a:p>
                      <a:pPr indent="0" marL="0">
                        <a:buNone/>
                      </a:pPr>
                      <a:r>
                        <a:rPr lang="en-US" sz="1000" b="1" dirty="0">
                          <a:solidFill>
                            <a:srgbClr val="4C5762"/>
                          </a:solidFill>
                          <a:latin typeface="Courier New" pitchFamily="34" charset="0"/>
                          <a:ea typeface="Courier New" pitchFamily="34" charset="-122"/>
                          <a:cs typeface="Courier New" pitchFamily="34" charset="-120"/>
                        </a:rPr>
                        <a:t>どちらでも可</a:t>
                      </a:r>
                      <a:endParaRPr lang="en-US" sz="1000" dirty="0">
                        <a:latin typeface="Courier New" charset="0"/>
                        <a:ea typeface="Courier New" charset="0"/>
                        <a:cs typeface="Courier New"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両者とも WSL2 で Linux 実装の隔離が効く。Claude Code はこの構成でフル機能。ただしデスクトップの WSL セッションでは一部機能が未対応。</a:t>
                      </a:r>
                      <a:endParaRPr lang="en-US" sz="10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r h="658368">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Windows で .NET / MSVC / PowerShell 中心の開発</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b="1" dirty="0">
                          <a:solidFill>
                            <a:srgbClr val="0B5E78"/>
                          </a:solidFill>
                          <a:latin typeface="Courier New" pitchFamily="34" charset="0"/>
                          <a:ea typeface="Courier New" pitchFamily="34" charset="-122"/>
                          <a:cs typeface="Courier New" pitchFamily="34" charset="-120"/>
                        </a:rPr>
                        <a:t>Codex</a:t>
                      </a:r>
                      <a:endParaRPr lang="en-US" sz="1000" dirty="0">
                        <a:latin typeface="Courier New" charset="0"/>
                        <a:ea typeface="Courier New" charset="0"/>
                        <a:cs typeface="Courier New"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PowerShell をネイティブに扱いつつサンドボックスも効く。Claude Code でも PowerShell ツールで作業自体は可能だが、サンドボックス無しを許容する判断が必要。</a:t>
                      </a:r>
                      <a:endParaRPr lang="en-US" sz="10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r>
              <a:tr h="566928">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macOS 中心のチーム</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c>
                  <a:txBody>
                    <a:bodyPr/>
                    <a:lstStyle/>
                    <a:p>
                      <a:pPr indent="0" marL="0">
                        <a:buNone/>
                      </a:pPr>
                      <a:r>
                        <a:rPr lang="en-US" sz="1000" b="1" dirty="0">
                          <a:solidFill>
                            <a:srgbClr val="4C5762"/>
                          </a:solidFill>
                          <a:latin typeface="Courier New" pitchFamily="34" charset="0"/>
                          <a:ea typeface="Courier New" pitchFamily="34" charset="-122"/>
                          <a:cs typeface="Courier New" pitchFamily="34" charset="-120"/>
                        </a:rPr>
                        <a:t>要件で選ぶ</a:t>
                      </a:r>
                      <a:endParaRPr lang="en-US" sz="1000" dirty="0">
                        <a:latin typeface="Courier New" charset="0"/>
                        <a:ea typeface="Courier New" charset="0"/>
                        <a:cs typeface="Courier New"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両者とも Seatbelt で隔離が効き、OS 起因の差はほぼ無い。GUI・並列セッション・運用機能で比較するのが妥当。</a:t>
                      </a:r>
                      <a:endParaRPr lang="en-US" sz="10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r h="658368">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エージェントに GUI アプリを操作させたい</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b="1" dirty="0">
                          <a:solidFill>
                            <a:srgbClr val="0B5E78"/>
                          </a:solidFill>
                          <a:latin typeface="Courier New" pitchFamily="34" charset="0"/>
                          <a:ea typeface="Courier New" pitchFamily="34" charset="-122"/>
                          <a:cs typeface="Courier New" pitchFamily="34" charset="-120"/>
                        </a:rPr>
                        <a:t>Codex ＋ macOS</a:t>
                      </a:r>
                      <a:endParaRPr lang="en-US" sz="1000" dirty="0">
                        <a:latin typeface="Courier New" charset="0"/>
                        <a:ea typeface="Courier New" charset="0"/>
                        <a:cs typeface="Courier New"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自分の作業を止めずに並列実行できるのは macOS のみ。Windows では前面占有になるため、専用マシンや仮想デスクトップの用意が前提。</a:t>
                      </a:r>
                      <a:endParaRPr lang="en-US" sz="10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2F5F7"/>
                    </a:solidFill>
                  </a:tcPr>
                </a:tc>
              </a:tr>
              <a:tr h="786384">
                <a:tc>
                  <a:txBody>
                    <a:bodyPr/>
                    <a:lstStyle/>
                    <a:p>
                      <a:pPr indent="0" marL="0">
                        <a:buNone/>
                      </a:pPr>
                      <a:r>
                        <a:rPr lang="en-US" sz="1050" b="1" dirty="0">
                          <a:solidFill>
                            <a:srgbClr val="111820"/>
                          </a:solidFill>
                          <a:latin typeface="Yu Gothic" pitchFamily="34" charset="0"/>
                          <a:ea typeface="Yu Gothic" pitchFamily="34" charset="-122"/>
                          <a:cs typeface="Yu Gothic" pitchFamily="34" charset="-120"/>
                        </a:rPr>
                        <a:t>OS 混在チームで設定を統一したい</a:t>
                      </a:r>
                      <a:endParaRPr lang="en-US" sz="105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c>
                  <a:txBody>
                    <a:bodyPr/>
                    <a:lstStyle/>
                    <a:p>
                      <a:pPr indent="0" marL="0">
                        <a:buNone/>
                      </a:pPr>
                      <a:r>
                        <a:rPr lang="en-US" sz="1000" b="1" dirty="0">
                          <a:solidFill>
                            <a:srgbClr val="8A6B1F"/>
                          </a:solidFill>
                          <a:latin typeface="Courier New" pitchFamily="34" charset="0"/>
                          <a:ea typeface="Courier New" pitchFamily="34" charset="-122"/>
                          <a:cs typeface="Courier New" pitchFamily="34" charset="-120"/>
                        </a:rPr>
                        <a:t>Claude Code</a:t>
                      </a:r>
                      <a:endParaRPr lang="en-US" sz="1000" dirty="0">
                        <a:latin typeface="Courier New" charset="0"/>
                        <a:ea typeface="Courier New" charset="0"/>
                        <a:cs typeface="Courier New"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c>
                  <a:txBody>
                    <a:bodyPr/>
                    <a:lstStyle/>
                    <a:p>
                      <a:pPr indent="0" marL="0">
                        <a:buNone/>
                      </a:pPr>
                      <a:r>
                        <a:rPr lang="en-US" sz="1000" dirty="0">
                          <a:solidFill>
                            <a:srgbClr val="4C5762"/>
                          </a:solidFill>
                          <a:latin typeface="Yu Gothic" pitchFamily="34" charset="0"/>
                          <a:ea typeface="Yu Gothic" pitchFamily="34" charset="-122"/>
                          <a:cs typeface="Yu Gothic" pitchFamily="34" charset="-120"/>
                        </a:rPr>
                        <a:t>設定・チャンネル・最低バージョンを managed settings で組織全体に強制でき、CLI とデスクトップが設定を共有する。ただしサンドボックス設定は Windows ホストを除外するか WSL2 前提にする必要がある。</a:t>
                      </a:r>
                      <a:endParaRPr lang="en-US" sz="1000" dirty="0">
                        <a:latin typeface="Yu Gothic" charset="0"/>
                        <a:ea typeface="Yu Gothic" charset="0"/>
                        <a:cs typeface="Yu Gothic" charset="0"/>
                      </a:endParaRPr>
                    </a:p>
                  </a:txBody>
                  <a:tcPr marL="114300" marR="114300" marT="76200" marB="76200" anchor="ctr">
                    <a:lnL w="9525" cap="flat" cmpd="sng" algn="ctr">
                      <a:solidFill>
                        <a:srgbClr val="D4DAE0"/>
                      </a:solidFill>
                      <a:prstDash val="solid"/>
                      <a:round/>
                      <a:headEnd type="none" w="med" len="med"/>
                      <a:tailEnd type="none" w="med" len="med"/>
                    </a:lnL>
                    <a:lnR w="9525" cap="flat" cmpd="sng" algn="ctr">
                      <a:solidFill>
                        <a:srgbClr val="D4DAE0"/>
                      </a:solidFill>
                      <a:prstDash val="solid"/>
                      <a:round/>
                      <a:headEnd type="none" w="med" len="med"/>
                      <a:tailEnd type="none" w="med" len="med"/>
                    </a:lnR>
                    <a:lnT w="9525" cap="flat" cmpd="sng" algn="ctr">
                      <a:solidFill>
                        <a:srgbClr val="D4DAE0"/>
                      </a:solidFill>
                      <a:prstDash val="solid"/>
                      <a:round/>
                      <a:headEnd type="none" w="med" len="med"/>
                      <a:tailEnd type="none" w="med" len="med"/>
                    </a:lnT>
                    <a:lnB w="9525" cap="flat" cmpd="sng" algn="ctr">
                      <a:solidFill>
                        <a:srgbClr val="D4DAE0"/>
                      </a:solidFill>
                      <a:prstDash val="solid"/>
                      <a:round/>
                      <a:headEnd type="none" w="med" len="med"/>
                      <a:tailEnd type="none" w="med" len="med"/>
                    </a:lnB>
                    <a:solidFill>
                      <a:srgbClr val="FAFBFC"/>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820"/>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78858F"/>
                </a:solidFill>
                <a:latin typeface="Courier New" pitchFamily="34" charset="0"/>
                <a:ea typeface="Courier New" pitchFamily="34" charset="-122"/>
                <a:cs typeface="Courier New" pitchFamily="34" charset="-120"/>
              </a:rPr>
              <a:t>出典と注意事項</a:t>
            </a:r>
            <a:endParaRPr lang="en-US" sz="100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2600" b="1" dirty="0">
                <a:solidFill>
                  <a:srgbClr val="E7EDF2"/>
                </a:solidFill>
                <a:latin typeface="Yu Gothic" pitchFamily="34" charset="0"/>
                <a:ea typeface="Yu Gothic" pitchFamily="34" charset="-122"/>
                <a:cs typeface="Yu Gothic" pitchFamily="34" charset="-120"/>
              </a:rPr>
              <a:t>この資料の根拠と、確認すべき点</a:t>
            </a:r>
            <a:endParaRPr lang="en-US" sz="2600" dirty="0"/>
          </a:p>
        </p:txBody>
      </p:sp>
      <p:sp>
        <p:nvSpPr>
          <p:cNvPr id="4" name="Shape 2"/>
          <p:cNvSpPr/>
          <p:nvPr/>
        </p:nvSpPr>
        <p:spPr>
          <a:xfrm>
            <a:off x="566928" y="6327648"/>
            <a:ext cx="11057839" cy="0"/>
          </a:xfrm>
          <a:prstGeom prst="line">
            <a:avLst/>
          </a:prstGeom>
          <a:noFill/>
          <a:ln w="9525">
            <a:solidFill>
              <a:srgbClr val="2B353E"/>
            </a:solidFill>
            <a:prstDash val="solid"/>
          </a:ln>
        </p:spPr>
      </p:sp>
      <p:sp>
        <p:nvSpPr>
          <p:cNvPr id="5" name="Text 3"/>
          <p:cNvSpPr txBox="1"/>
          <p:nvPr/>
        </p:nvSpPr>
        <p:spPr>
          <a:xfrm>
            <a:off x="566928" y="6391656"/>
            <a:ext cx="7740487" cy="237744"/>
          </a:xfrm>
          <a:prstGeom prst="rect">
            <a:avLst/>
          </a:prstGeom>
          <a:noFill/>
          <a:ln/>
        </p:spPr>
        <p:txBody>
          <a:bodyPr wrap="square" lIns="0" tIns="0" rIns="0" bIns="0" rtlCol="0" anchor="ctr"/>
          <a:lstStyle/>
          <a:p>
            <a:pPr indent="0" marL="0">
              <a:buNone/>
            </a:pPr>
            <a:r>
              <a:rPr lang="en-US" sz="900" spc="120" kern="0" dirty="0">
                <a:solidFill>
                  <a:srgbClr val="78858F"/>
                </a:solidFill>
                <a:latin typeface="Courier New" pitchFamily="34" charset="0"/>
                <a:ea typeface="Courier New" pitchFamily="34" charset="-122"/>
                <a:cs typeface="Courier New" pitchFamily="34" charset="-120"/>
              </a:rPr>
              <a:t>SOURCES &amp; CAVEATS</a:t>
            </a:r>
            <a:endParaRPr lang="en-US" sz="900" dirty="0"/>
          </a:p>
        </p:txBody>
      </p:sp>
      <p:sp>
        <p:nvSpPr>
          <p:cNvPr id="6" name="Text 4"/>
          <p:cNvSpPr txBox="1"/>
          <p:nvPr/>
        </p:nvSpPr>
        <p:spPr>
          <a:xfrm>
            <a:off x="8307415" y="6391656"/>
            <a:ext cx="3317352" cy="237744"/>
          </a:xfrm>
          <a:prstGeom prst="rect">
            <a:avLst/>
          </a:prstGeom>
          <a:noFill/>
          <a:ln/>
        </p:spPr>
        <p:txBody>
          <a:bodyPr wrap="square" lIns="0" tIns="0" rIns="0" bIns="0" rtlCol="0" anchor="ctr"/>
          <a:lstStyle/>
          <a:p>
            <a:pPr algn="r" indent="0" marL="0">
              <a:buNone/>
            </a:pPr>
            <a:r>
              <a:rPr lang="en-US" sz="900" dirty="0">
                <a:solidFill>
                  <a:srgbClr val="A5B1BB"/>
                </a:solidFill>
                <a:latin typeface="Courier New" pitchFamily="34" charset="0"/>
                <a:ea typeface="Courier New" pitchFamily="34" charset="-122"/>
                <a:cs typeface="Courier New" pitchFamily="34" charset="-120"/>
              </a:rPr>
              <a:t>17 / 17</a:t>
            </a:r>
            <a:endParaRPr lang="en-US" sz="900" dirty="0"/>
          </a:p>
        </p:txBody>
      </p:sp>
      <p:sp>
        <p:nvSpPr>
          <p:cNvPr id="7" name="Text 5"/>
          <p:cNvSpPr txBox="1"/>
          <p:nvPr/>
        </p:nvSpPr>
        <p:spPr>
          <a:xfrm>
            <a:off x="566928" y="1417320"/>
            <a:ext cx="5346040" cy="256032"/>
          </a:xfrm>
          <a:prstGeom prst="rect">
            <a:avLst/>
          </a:prstGeom>
          <a:noFill/>
          <a:ln/>
        </p:spPr>
        <p:txBody>
          <a:bodyPr wrap="square" lIns="0" tIns="0" rIns="0" bIns="0" rtlCol="0" anchor="ctr"/>
          <a:lstStyle/>
          <a:p>
            <a:pPr indent="0" marL="0">
              <a:buNone/>
            </a:pPr>
            <a:r>
              <a:rPr lang="en-US" sz="950" b="1" spc="120" kern="0" dirty="0">
                <a:solidFill>
                  <a:srgbClr val="78858F"/>
                </a:solidFill>
                <a:latin typeface="Courier New" pitchFamily="34" charset="0"/>
                <a:ea typeface="Courier New" pitchFamily="34" charset="-122"/>
                <a:cs typeface="Courier New" pitchFamily="34" charset="-120"/>
              </a:rPr>
              <a:t>一次情報として参照したもの</a:t>
            </a:r>
            <a:endParaRPr lang="en-US" sz="950" dirty="0"/>
          </a:p>
        </p:txBody>
      </p:sp>
      <p:sp>
        <p:nvSpPr>
          <p:cNvPr id="8" name="Text 6"/>
          <p:cNvSpPr txBox="1"/>
          <p:nvPr/>
        </p:nvSpPr>
        <p:spPr>
          <a:xfrm>
            <a:off x="566928" y="1773936"/>
            <a:ext cx="5346040" cy="2286000"/>
          </a:xfrm>
          <a:prstGeom prst="rect">
            <a:avLst/>
          </a:prstGeom>
          <a:noFill/>
          <a:ln/>
        </p:spPr>
        <p:txBody>
          <a:bodyPr wrap="square" lIns="0" tIns="0" rIns="0" bIns="0" rtlCol="0" anchor="t"/>
          <a:lstStyle/>
          <a:p>
            <a:pPr indent="0" marL="0">
              <a:lnSpc>
                <a:spcPct val="136000"/>
              </a:lnSpc>
              <a:buNone/>
            </a:pPr>
            <a:r>
              <a:rPr lang="en-US" sz="1100" b="1" dirty="0">
                <a:solidFill>
                  <a:srgbClr val="E7EDF2"/>
                </a:solidFill>
                <a:latin typeface="Yu Gothic" pitchFamily="34" charset="0"/>
                <a:ea typeface="Yu Gothic" pitchFamily="34" charset="-122"/>
                <a:cs typeface="Yu Gothic" pitchFamily="34" charset="-120"/>
              </a:rPr>
              <a:t>Claude Code 公式ドキュメント（code.claude.com/docs）</a:t>
            </a:r>
            <a:endParaRPr lang="en-US" sz="1100" dirty="0"/>
          </a:p>
          <a:p>
            <a:pPr indent="0" marL="0">
              <a:lnSpc>
                <a:spcPct val="136000"/>
              </a:lnSpc>
              <a:buNone/>
            </a:pPr>
            <a:r>
              <a:rPr lang="en-US" sz="1050" dirty="0">
                <a:solidFill>
                  <a:srgbClr val="A5B1BB"/>
                </a:solidFill>
                <a:latin typeface="Yu Gothic" pitchFamily="34" charset="0"/>
                <a:ea typeface="Yu Gothic" pitchFamily="34" charset="-122"/>
                <a:cs typeface="Yu Gothic" pitchFamily="34" charset="-120"/>
              </a:rPr>
              <a:t>Advanced setup / Sandboxing / Tools reference / Desktop quickstart / Desktop in WSL / Terminal config。本資料の Claude Code 側の記述はすべてここに基づきます。</a:t>
            </a:r>
            <a:endParaRPr lang="en-US" sz="1100" dirty="0"/>
          </a:p>
          <a:p>
            <a:pPr indent="0" marL="0">
              <a:lnSpc>
                <a:spcPct val="136000"/>
              </a:lnSpc>
              <a:buNone/>
            </a:pPr>
            <a:endParaRPr lang="en-US" sz="1100" dirty="0"/>
          </a:p>
          <a:p>
            <a:pPr indent="0" marL="0">
              <a:lnSpc>
                <a:spcPct val="136000"/>
              </a:lnSpc>
              <a:buNone/>
            </a:pPr>
            <a:r>
              <a:rPr lang="en-US" sz="1100" b="1" dirty="0">
                <a:solidFill>
                  <a:srgbClr val="E7EDF2"/>
                </a:solidFill>
                <a:latin typeface="Yu Gothic" pitchFamily="34" charset="0"/>
                <a:ea typeface="Yu Gothic" pitchFamily="34" charset="-122"/>
                <a:cs typeface="Yu Gothic" pitchFamily="34" charset="-120"/>
              </a:rPr>
              <a:t>openai/codex リポジトリ</a:t>
            </a:r>
            <a:endParaRPr lang="en-US" sz="1100" dirty="0"/>
          </a:p>
          <a:p>
            <a:pPr indent="0" marL="0">
              <a:lnSpc>
                <a:spcPct val="136000"/>
              </a:lnSpc>
              <a:buNone/>
            </a:pPr>
            <a:r>
              <a:rPr lang="en-US" sz="1050" dirty="0">
                <a:solidFill>
                  <a:srgbClr val="A5B1BB"/>
                </a:solidFill>
                <a:latin typeface="Yu Gothic" pitchFamily="34" charset="0"/>
                <a:ea typeface="Yu Gothic" pitchFamily="34" charset="-122"/>
                <a:cs typeface="Yu Gothic" pitchFamily="34" charset="-120"/>
              </a:rPr>
              <a:t>README のインストール手順、および codex-rs/sandboxing/src/ の実装ファイル構成（seatbelt.rs／landlock.rs／bwrap.rs／windows.rs）で、OS 別実装の存在を確認しています。</a:t>
            </a:r>
            <a:endParaRPr lang="en-US" sz="1100" dirty="0"/>
          </a:p>
        </p:txBody>
      </p:sp>
      <p:sp>
        <p:nvSpPr>
          <p:cNvPr id="9" name="Shape 7"/>
          <p:cNvSpPr/>
          <p:nvPr/>
        </p:nvSpPr>
        <p:spPr>
          <a:xfrm>
            <a:off x="6095848" y="1417320"/>
            <a:ext cx="0" cy="3017520"/>
          </a:xfrm>
          <a:prstGeom prst="line">
            <a:avLst/>
          </a:prstGeom>
          <a:noFill/>
          <a:ln w="9525">
            <a:solidFill>
              <a:srgbClr val="2B353E"/>
            </a:solidFill>
            <a:prstDash val="solid"/>
          </a:ln>
        </p:spPr>
      </p:sp>
      <p:sp>
        <p:nvSpPr>
          <p:cNvPr id="10" name="Text 8"/>
          <p:cNvSpPr txBox="1"/>
          <p:nvPr/>
        </p:nvSpPr>
        <p:spPr>
          <a:xfrm>
            <a:off x="6278728" y="1417320"/>
            <a:ext cx="5163160" cy="256032"/>
          </a:xfrm>
          <a:prstGeom prst="rect">
            <a:avLst/>
          </a:prstGeom>
          <a:noFill/>
          <a:ln/>
        </p:spPr>
        <p:txBody>
          <a:bodyPr wrap="square" lIns="0" tIns="0" rIns="0" bIns="0" rtlCol="0" anchor="ctr"/>
          <a:lstStyle/>
          <a:p>
            <a:pPr indent="0" marL="0">
              <a:buNone/>
            </a:pPr>
            <a:r>
              <a:rPr lang="en-US" sz="950" b="1" spc="120" kern="0" dirty="0">
                <a:solidFill>
                  <a:srgbClr val="78858F"/>
                </a:solidFill>
                <a:latin typeface="Courier New" pitchFamily="34" charset="0"/>
                <a:ea typeface="Courier New" pitchFamily="34" charset="-122"/>
                <a:cs typeface="Courier New" pitchFamily="34" charset="-120"/>
              </a:rPr>
              <a:t>確認いただきたい点</a:t>
            </a:r>
            <a:endParaRPr lang="en-US" sz="950" dirty="0"/>
          </a:p>
        </p:txBody>
      </p:sp>
      <p:sp>
        <p:nvSpPr>
          <p:cNvPr id="11" name="Text 9"/>
          <p:cNvSpPr txBox="1"/>
          <p:nvPr/>
        </p:nvSpPr>
        <p:spPr>
          <a:xfrm>
            <a:off x="6278728" y="1773936"/>
            <a:ext cx="5163160" cy="2651760"/>
          </a:xfrm>
          <a:prstGeom prst="rect">
            <a:avLst/>
          </a:prstGeom>
          <a:noFill/>
          <a:ln/>
        </p:spPr>
        <p:txBody>
          <a:bodyPr wrap="square" lIns="0" tIns="0" rIns="0" bIns="0" rtlCol="0" anchor="t"/>
          <a:lstStyle/>
          <a:p>
            <a:pPr indent="0" marL="0">
              <a:lnSpc>
                <a:spcPct val="136000"/>
              </a:lnSpc>
              <a:buNone/>
            </a:pPr>
            <a:r>
              <a:rPr lang="en-US" sz="1100" b="1" dirty="0">
                <a:solidFill>
                  <a:srgbClr val="E2776C"/>
                </a:solidFill>
                <a:latin typeface="Yu Gothic" pitchFamily="34" charset="0"/>
                <a:ea typeface="Yu Gothic" pitchFamily="34" charset="-122"/>
                <a:cs typeface="Yu Gothic" pitchFamily="34" charset="-120"/>
              </a:rPr>
              <a:t>OpenAI 公式ドキュメントは参照できませんでした。</a:t>
            </a:r>
            <a:endParaRPr lang="en-US" sz="1100" dirty="0"/>
          </a:p>
          <a:p>
            <a:pPr indent="0" marL="0">
              <a:lnSpc>
                <a:spcPct val="136000"/>
              </a:lnSpc>
              <a:buNone/>
            </a:pPr>
            <a:r>
              <a:rPr lang="en-US" sz="1050" dirty="0">
                <a:solidFill>
                  <a:srgbClr val="A5B1BB"/>
                </a:solidFill>
                <a:latin typeface="Yu Gothic" pitchFamily="34" charset="0"/>
                <a:ea typeface="Yu Gothic" pitchFamily="34" charset="-122"/>
                <a:cs typeface="Yu Gothic" pitchFamily="34" charset="-120"/>
              </a:rPr>
              <a:t>「二次情報」を付したスライド — Codex の Windows サンドボックス内部設計、Codex app のリリース時期、Computer Use の macOS / Windows 差、Cowork の VM 要件 — は公開報道および技術解説記事に基づきます。導入判断の前に developers.openai.com/codex/windows で裏取りしてください。</a:t>
            </a:r>
            <a:endParaRPr lang="en-US" sz="1100" dirty="0"/>
          </a:p>
          <a:p>
            <a:pPr indent="0" marL="0">
              <a:lnSpc>
                <a:spcPct val="136000"/>
              </a:lnSpc>
              <a:buNone/>
            </a:pPr>
            <a:endParaRPr lang="en-US" sz="1100" dirty="0"/>
          </a:p>
          <a:p>
            <a:pPr indent="0" marL="0">
              <a:lnSpc>
                <a:spcPct val="136000"/>
              </a:lnSpc>
              <a:buNone/>
            </a:pPr>
            <a:r>
              <a:rPr lang="en-US" sz="1100" b="1" dirty="0">
                <a:solidFill>
                  <a:srgbClr val="E7EDF2"/>
                </a:solidFill>
                <a:latin typeface="Yu Gothic" pitchFamily="34" charset="0"/>
                <a:ea typeface="Yu Gothic" pitchFamily="34" charset="-122"/>
                <a:cs typeface="Yu Gothic" pitchFamily="34" charset="-120"/>
              </a:rPr>
              <a:t>両製品とも更新が速い。</a:t>
            </a:r>
            <a:endParaRPr lang="en-US" sz="1100" dirty="0"/>
          </a:p>
          <a:p>
            <a:pPr indent="0" marL="0">
              <a:lnSpc>
                <a:spcPct val="136000"/>
              </a:lnSpc>
              <a:buNone/>
            </a:pPr>
            <a:r>
              <a:rPr lang="en-US" sz="1050" dirty="0">
                <a:solidFill>
                  <a:srgbClr val="A5B1BB"/>
                </a:solidFill>
                <a:latin typeface="Yu Gothic" pitchFamily="34" charset="0"/>
                <a:ea typeface="Yu Gothic" pitchFamily="34" charset="-122"/>
                <a:cs typeface="Yu Gothic" pitchFamily="34" charset="-120"/>
              </a:rPr>
              <a:t>Codex CLI は 0.148.0-alpha 系が日次で更新され、Claude Code も Windows 関連の挙動がバージョンで変わっています（例：PowerShell の UTF-8 出力は v2.1.214 以降）。記載内容は 2026 年 8 月 18 日時点のものとしてお読みください。</a:t>
            </a:r>
            <a:endParaRPr lang="en-US" sz="1100" dirty="0"/>
          </a:p>
        </p:txBody>
      </p:sp>
      <p:sp>
        <p:nvSpPr>
          <p:cNvPr id="12" name="Shape 10"/>
          <p:cNvSpPr/>
          <p:nvPr/>
        </p:nvSpPr>
        <p:spPr>
          <a:xfrm>
            <a:off x="566928" y="4864608"/>
            <a:ext cx="11057839" cy="914400"/>
          </a:xfrm>
          <a:prstGeom prst="rect">
            <a:avLst/>
          </a:prstGeom>
          <a:solidFill>
            <a:srgbClr val="1B232A"/>
          </a:solidFill>
          <a:ln w="9525">
            <a:solidFill>
              <a:srgbClr val="2B353E"/>
            </a:solidFill>
            <a:prstDash val="solid"/>
          </a:ln>
        </p:spPr>
      </p:sp>
      <p:sp>
        <p:nvSpPr>
          <p:cNvPr id="13" name="Text 11"/>
          <p:cNvSpPr txBox="1"/>
          <p:nvPr/>
        </p:nvSpPr>
        <p:spPr>
          <a:xfrm>
            <a:off x="822960" y="4974336"/>
            <a:ext cx="10545775" cy="694944"/>
          </a:xfrm>
          <a:prstGeom prst="rect">
            <a:avLst/>
          </a:prstGeom>
          <a:noFill/>
          <a:ln/>
        </p:spPr>
        <p:txBody>
          <a:bodyPr wrap="square" lIns="0" tIns="0" rIns="0" bIns="0" rtlCol="0" anchor="ctr"/>
          <a:lstStyle/>
          <a:p>
            <a:pPr indent="0" marL="0">
              <a:lnSpc>
                <a:spcPct val="130000"/>
              </a:lnSpc>
              <a:buNone/>
            </a:pPr>
            <a:r>
              <a:rPr lang="en-US" sz="1100" b="1" dirty="0">
                <a:solidFill>
                  <a:srgbClr val="E7EDF2"/>
                </a:solidFill>
                <a:latin typeface="Yu Gothic" pitchFamily="34" charset="0"/>
                <a:ea typeface="Yu Gothic" pitchFamily="34" charset="-122"/>
                <a:cs typeface="Yu Gothic" pitchFamily="34" charset="-120"/>
              </a:rPr>
              <a:t>最も安定した結論： </a:t>
            </a:r>
            <a:pPr indent="0" marL="0">
              <a:lnSpc>
                <a:spcPct val="130000"/>
              </a:lnSpc>
              <a:buNone/>
            </a:pPr>
            <a:r>
              <a:rPr lang="en-US" sz="1100" dirty="0">
                <a:solidFill>
                  <a:srgbClr val="A5B1BB"/>
                </a:solidFill>
                <a:latin typeface="Yu Gothic" pitchFamily="34" charset="0"/>
                <a:ea typeface="Yu Gothic" pitchFamily="34" charset="-122"/>
                <a:cs typeface="Yu Gothic" pitchFamily="34" charset="-120"/>
              </a:rPr>
              <a:t>OS 差の本質は「その OS が提供する隔離プリミティブ（Seatbelt / Landlock / 制限付きトークン）を、そのエージェントが実装しているか」です。個別の機能名は変わっても、この構図は当面変わりません。</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Codex と Claude Code の OS 差分</dc:title>
  <dc:subject>PptxGenJS Presentation</dc:subject>
  <dc:creator>Claude Code</dc:creator>
  <cp:lastModifiedBy>Claude Code</cp:lastModifiedBy>
  <cp:revision>1</cp:revision>
  <dcterms:created xsi:type="dcterms:W3CDTF">2026-09-14T13:53:23Z</dcterms:created>
  <dcterms:modified xsi:type="dcterms:W3CDTF">2026-09-14T13:53:23Z</dcterms:modified>
</cp:coreProperties>
</file>